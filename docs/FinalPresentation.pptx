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[Yiğit · ~25s]</a:t>
            </a:r>
          </a:p>
          <a:p/>
          <a:p>
            <a:r>
              <a:t>Hi everyone — we're Yiğit and Ozan, and this is the final demo of our Real-Time Skeletal Animation Viewer, written in C++17 on OpenGL 4.1 Core, loading glTF 2.0 characters.</a:t>
            </a:r>
          </a:p>
          <a:p/>
          <a:p>
            <a:r>
              <a:t>In the mid-demo we showed the core pipeline working. Today we're focusing on the four extensions we listed back then as future work — and all four are now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[Yiğit · ~45s]</a:t>
            </a:r>
          </a:p>
          <a:p/>
          <a:p>
            <a:r>
              <a:t>Quick recap on the left: the base viewer loads glTF geometry, skeleton, and animation; it does forward kinematics down the bone hierarchy, then linear blend skinning on the GPU with up to four bone influences per vertex. That foundation hasn't changed.</a:t>
            </a:r>
          </a:p>
          <a:p/>
          <a:p>
            <a:r>
              <a:t>On the right are the four new extensions, and they all build directly on that FK-and-skinning core: shadow mapping, physically based rendering with image-based lighting, inverse kinematics, and a keyboard-driven animation state machine. We'll take them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[Ozan · ~40s]</a:t>
            </a:r>
          </a:p>
          <a:p/>
          <a:p>
            <a:r>
              <a:t>Think about what a shadow really is: a spot is in shadow when something stands between it and the light. So the whole question is simply — can this spot see the light, or not? Ray tracing answers it the obvious way: from the spot, you send a ray straight to the light and check if anything is in the way. Path tracing does this with lots of rays bouncing around the scene — it looks amazing, but it's far too slow to run in real time.</a:t>
            </a:r>
          </a:p>
          <a:p/>
          <a:p>
            <a:r>
              <a:t>Shadow mapping gets the same answer with a clever shortcut. First, we take a picture from the light's position — but instead of colours, it records how far away the nearest thing is in each direction. Then, while we draw the scene, every spot just asks: am I farther away than the nearest thing the light saw? If I am, something is blocking me, so I'm in shadow. It's the same 'can I see the light' test — just done ahead of time, instead of one ray at a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[Ozan · ~20s]</a:t>
            </a:r>
          </a:p>
          <a:p/>
          <a:p>
            <a:r>
              <a:t>One catch: the light's picture is a bit low-resolution, so the shadow edges come out blocky and jagged. To smooth them, instead of each spot checking a single point, it checks a few neighbouring points and averages them — so right at the edge you get a soft, gradual fade instead of a hard line. It's a cheap way to fake the soft shadows you'd naturally get from a real-world light.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[Yiğit · ~50s]</a:t>
            </a:r>
          </a:p>
          <a:p/>
          <a:p>
            <a:r>
              <a:t>PBR just means we colour surfaces the way light actually behaves in the real world, instead of hand-tweaking things until they look okay. The big win is that a material then looks right under any lighting. We describe every surface with three simple, intuitive values: its base colour, how metallic it is — basically, is it metal or not — and how rough or polished it is. Smooth gives sharp mirror reflections, rough gives a soft matte look. In the demo you can drag the metallic and roughness sliders and watch the same model go from matte plastic to a shiny chrome mirror.</a:t>
            </a:r>
          </a:p>
          <a:p/>
          <a:p>
            <a:r>
              <a:t>For each pixel we add up two things: the soft, even base colour, and the shiny highlights and reflections on top. Roughness controls how sharp those highlights are, and there's a real-world effect built in where every surface gets more mirror-like when you look at it edge-on — like a tabletop that's dull from above but reflective when you look across it. The takeaway is simple: it follows real physics, so it just looks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[Yiğit · ~50s]</a:t>
            </a:r>
          </a:p>
          <a:p/>
          <a:p>
            <a:r>
              <a:t>In the real world, a surface isn't lit by a single light — it also receives light bouncing off everything around it: the sky, the ground, nearby objects. Image-based lighting reproduces that. We light the character using its whole environment, not just one lamp. That's why the metal reflects the sky, and the shaded side still picks up some colour instead of looking flat.</a:t>
            </a:r>
          </a:p>
          <a:p/>
          <a:p>
            <a:r>
              <a:t>The problem is that adding up light from every direction, for every pixel, would be way too heavy to do live. So we do that expensive part once, up front, and save the results into a few small images we can quickly look up while rendering. We build our own sky in code — no photo needed — and from it we make a soft, blurry version for the gentle fill light, plus a set of sharper-to-blurrier versions for reflections, so smooth surfaces look like a mirror and rough ones look hazy.</a:t>
            </a:r>
          </a:p>
          <a:p/>
          <a:p>
            <a:r>
              <a:t>Big picture: it's the same idea as our shadows — a fast stand-in for the rich, all-around lighting that path tracing would compute properly, but far too slowly for real time.</a:t>
            </a:r>
          </a:p>
          <a:p/>
          <a:p>
            <a:r>
              <a:t>DEMO CUE: Demo highlight: set Metallic to 1 and Roughness near 0 — the character becomes a chrome mirror of the sky.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[Ozan · ~50s]</a:t>
            </a:r>
          </a:p>
          <a:p/>
          <a:p>
            <a:r>
              <a:t>Now inverse kinematics. Our whole animation pipeline so far is forward kinematics: you have joint angles, and you compute where the end of the limb lands. Inverse kinematics flips that around — you specify a target position, and the solver computes the joint angles needed to reach it.</a:t>
            </a:r>
          </a:p>
          <a:p/>
          <a:p>
            <a:r>
              <a:t>We implemented a two-bone analytic solver over a chain of three joints: root, mid, and end — think hip, knee, foot, or shoulder, elbow, hand. Because the bone lengths are fixed, the law of cosines gives us the exact interior angles for the root and the mid joint, and then an aim rotation points the whole chain at the target. It's closed-form, so there's no iteration — it solves every frame. If the target is out of reach, the limb just straightens.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[Ozan · ~45s]</a:t>
            </a:r>
          </a:p>
          <a:p/>
          <a:p>
            <a:r>
              <a:t>Integrating it was clean. After we sample the clips and run the forward kinematics pass, we insert the IK solve, then re-run forward kinematics so the corrected joints propagate to the rest of the limb — and only then do skinning. The solver edits the local rotations of just the root and mid joints.</a:t>
            </a:r>
          </a:p>
          <a:p/>
          <a:p>
            <a:r>
              <a:t>In the demo you pick any bone as the end effector from a dropdown; the two parents above it become the chain. A yellow marker shows the target, and dragging it bends the knee or elbow to follow. The key point: IK runs on top of the playing animation, so the body keeps walking while the chosen limb tracks the target.</a:t>
            </a:r>
          </a:p>
          <a:p/>
          <a:p>
            <a:r>
              <a:t>DEMO CUE: Live: pick a foot or hand bone, press I, then drag the target X/Y/Z.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[Yiğit · ~55s]</a:t>
            </a:r>
          </a:p>
          <a:p/>
          <a:p>
            <a:r>
              <a:t>The last extension is a keyboard-driven animation state machine. Pressing 1 or 2 requests Walk or Run, and each request maps to a real animation clip and starts a 0.3-second crossfade. Importantly, that crossfade reuses the TRS-level SLERP blending we already built and validated in the mid-demo — so transitions are smooth, no popping or shearing.</a:t>
            </a:r>
          </a:p>
          <a:p/>
          <a:p>
            <a:r>
              <a:t>To make this meaningful we added the Khronos Fox model: 24 bones and three genuinely different clips — survey, walk, and run — so we can show real clip-to-clip blending, not just a speed change. For the single-clip human models, the same keys fall back to speed-scaling.</a:t>
            </a:r>
          </a:p>
          <a:p/>
          <a:p>
            <a:r>
              <a:t>One honest design note: we originally planned Walk-Run-Jump. But none of these rigs ship with a jump clip, and faking it by translating the whole model upward looked artificial — so we kept locomotion to Walk and Run, which we can demonstrate properly.</a:t>
            </a:r>
          </a:p>
          <a:p/>
          <a:p>
            <a:r>
              <a:t>DEMO CUE: Live: press M to switch to the Fox, then toggle 2 and 1 to crossfade Run and Walk.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[Yiğit · ~40s]</a:t>
            </a:r>
          </a:p>
          <a:p/>
          <a:p>
            <a:r>
              <a:t>Architecturally the state machine is deliberately thin. It's a small new class that just holds the current state and maps each state to a clip index by matching the clip name. When you press a key, it calls the existing Animator blendTo function — it doesn't touch the core pipeline at all.</a:t>
            </a:r>
          </a:p>
          <a:p/>
          <a:p>
            <a:r>
              <a:t>So the data flow is: key press, to the state machine, which picks the clip, which calls blendTo, which runs the SLERP crossfade. All the heavy lifting is the blend system we already had; the state machine is pure orchestration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[Ozan · ~60s]</a:t>
            </a:r>
          </a:p>
          <a:p/>
          <a:p>
            <a:r>
              <a:t>A few real problems came up, mostly from adding the Fox. First, the Fox mesh was invisible — it ships as non-indexed geometry, so we synthesise a sequential index buffer. Second, it has no normals, so we generate smooth per-vertex normals from the faces.</a:t>
            </a:r>
          </a:p>
          <a:p/>
          <a:p>
            <a:r>
              <a:t>The trickiest one: the Fox collapsed into a ball while walking. Its clips animate rotation only on most joints, and our code was defaulting the missing translation to zero — yanking every joint to the origin. The fix is to fall back to the bone's bind pose for any missing track. Our human models exported full translation-rotation-scale per joint, which is why they never hit this.</a:t>
            </a:r>
          </a:p>
          <a:p/>
          <a:p>
            <a:r>
              <a:t>And two from the rendering side: all the IBL baking had to work around no compute shaders on GL 4.1, and the IK solver computes a world-space correction that we convert into each bone's parent frame before writing the local rotation.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~50s]</a:t>
            </a:r>
          </a:p>
          <a:p/>
          <a:p>
            <a:r>
              <a:t>This slide is our demo checklist. We'll start with shadows — toggle the ground and swing the light. Then PBR — push metallic and roughness to get the chrome look. Then toggle IBL ambient and the skybox to show the environment lighting. Then switch to the Fox and crossfade run and walk. And finally enable IK and drag a limb around.</a:t>
            </a:r>
          </a:p>
          <a:p/>
          <a:p>
            <a:r>
              <a:t>The new key bindings are on the right: 1 and 2 for the locomotion states, I to toggle IK, M to switch models. The whole thing still runs at a steady 60 FPS with shadows, IBL, and skinning all on, across three models.</a:t>
            </a:r>
          </a:p>
          <a:p/>
          <a:p>
            <a:r>
              <a:t>DEMO CUE: Switch to the actual app window here and run through the five steps.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~35s]</a:t>
            </a:r>
          </a:p>
          <a:p/>
          <a:p>
            <a:r>
              <a:t>To wrap up: every one of the four extensions we promised at the mid-demo is delivered — shadow mapping, PBR with image-based lighting, interactive inverse kinematics, and the Walk-Run state machine — plus we added a new multi-clip reference model.</a:t>
            </a:r>
          </a:p>
          <a:p/>
          <a:p>
            <a:r>
              <a:t>The big takeaway is that these extensions slotted in additively on top of the FK-and-skinning core, and several of them mirror offline techniques — a shadow map is a rasterised shadow ray, and split-sum IBL approximates path-traced ambient. Future work would be multi-bone IK chains and parametric blend trees.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73152" cy="2377440"/>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051560"/>
            <a:ext cx="10515600" cy="2011680"/>
          </a:xfrm>
          <a:prstGeom prst="rect">
            <a:avLst/>
          </a:prstGeom>
          <a:noFill/>
        </p:spPr>
        <p:txBody>
          <a:bodyPr wrap="square" anchor="t"/>
          <a:lstStyle/>
          <a:p>
            <a:pPr algn="l">
              <a:lnSpc>
                <a:spcPct val="100000"/>
              </a:lnSpc>
              <a:spcBef>
                <a:spcPts val="0"/>
              </a:spcBef>
              <a:spcAft>
                <a:spcPts val="600"/>
              </a:spcAft>
            </a:pPr>
            <a:r>
              <a:rPr sz="4600" b="1">
                <a:solidFill>
                  <a:srgbClr val="ECEFF1"/>
                </a:solidFill>
                <a:latin typeface="Calibri"/>
              </a:rPr>
              <a:t>Real-Time Skeletal</a:t>
            </a:r>
          </a:p>
          <a:p>
            <a:pPr algn="l">
              <a:lnSpc>
                <a:spcPct val="100000"/>
              </a:lnSpc>
              <a:spcBef>
                <a:spcPts val="0"/>
              </a:spcBef>
              <a:spcAft>
                <a:spcPts val="600"/>
              </a:spcAft>
            </a:pPr>
            <a:r>
              <a:rPr sz="4600" b="1">
                <a:solidFill>
                  <a:srgbClr val="ECEFF1"/>
                </a:solidFill>
                <a:latin typeface="Calibri"/>
              </a:rPr>
              <a:t>Animation Viewer</a:t>
            </a:r>
          </a:p>
        </p:txBody>
      </p:sp>
      <p:sp>
        <p:nvSpPr>
          <p:cNvPr id="7" name="TextBox 6"/>
          <p:cNvSpPr txBox="1"/>
          <p:nvPr/>
        </p:nvSpPr>
        <p:spPr>
          <a:xfrm>
            <a:off x="822960" y="3246120"/>
            <a:ext cx="10058400" cy="457200"/>
          </a:xfrm>
          <a:prstGeom prst="rect">
            <a:avLst/>
          </a:prstGeom>
          <a:noFill/>
        </p:spPr>
        <p:txBody>
          <a:bodyPr wrap="square" anchor="t"/>
          <a:lstStyle/>
          <a:p>
            <a:pPr algn="l">
              <a:lnSpc>
                <a:spcPct val="100000"/>
              </a:lnSpc>
              <a:spcBef>
                <a:spcPts val="0"/>
              </a:spcBef>
              <a:spcAft>
                <a:spcPts val="600"/>
              </a:spcAft>
            </a:pPr>
            <a:r>
              <a:rPr sz="1900" b="0">
                <a:solidFill>
                  <a:srgbClr val="2EE68A"/>
                </a:solidFill>
                <a:latin typeface="Calibri"/>
              </a:rPr>
              <a:t>Final Demo — Rendering &amp; Animation Extensions</a:t>
            </a:r>
          </a:p>
        </p:txBody>
      </p:sp>
      <p:sp>
        <p:nvSpPr>
          <p:cNvPr id="8" name="Rectangle 7"/>
          <p:cNvSpPr/>
          <p:nvPr/>
        </p:nvSpPr>
        <p:spPr>
          <a:xfrm>
            <a:off x="822960" y="3886200"/>
            <a:ext cx="5120640" cy="15240"/>
          </a:xfrm>
          <a:prstGeom prst="rect">
            <a:avLst/>
          </a:prstGeom>
          <a:solidFill>
            <a:srgbClr val="2A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069080"/>
            <a:ext cx="10058400" cy="365760"/>
          </a:xfrm>
          <a:prstGeom prst="rect">
            <a:avLst/>
          </a:prstGeom>
          <a:noFill/>
        </p:spPr>
        <p:txBody>
          <a:bodyPr wrap="square" anchor="t"/>
          <a:lstStyle/>
          <a:p>
            <a:pPr algn="l">
              <a:lnSpc>
                <a:spcPct val="100000"/>
              </a:lnSpc>
              <a:spcBef>
                <a:spcPts val="0"/>
              </a:spcBef>
              <a:spcAft>
                <a:spcPts val="600"/>
              </a:spcAft>
            </a:pPr>
            <a:r>
              <a:rPr sz="1400" b="0">
                <a:solidFill>
                  <a:srgbClr val="76828E"/>
                </a:solidFill>
                <a:latin typeface="Calibri"/>
              </a:rPr>
              <a:t>C++17  ·  OpenGL 4.1 Core  ·  glTF 2.0</a:t>
            </a:r>
          </a:p>
        </p:txBody>
      </p:sp>
      <p:sp>
        <p:nvSpPr>
          <p:cNvPr id="10" name="TextBox 9"/>
          <p:cNvSpPr txBox="1"/>
          <p:nvPr/>
        </p:nvSpPr>
        <p:spPr>
          <a:xfrm>
            <a:off x="822960" y="4617720"/>
            <a:ext cx="10058400" cy="365760"/>
          </a:xfrm>
          <a:prstGeom prst="rect">
            <a:avLst/>
          </a:prstGeom>
          <a:noFill/>
        </p:spPr>
        <p:txBody>
          <a:bodyPr wrap="square" anchor="t"/>
          <a:lstStyle/>
          <a:p>
            <a:pPr algn="l">
              <a:lnSpc>
                <a:spcPct val="100000"/>
              </a:lnSpc>
              <a:spcBef>
                <a:spcPts val="0"/>
              </a:spcBef>
              <a:spcAft>
                <a:spcPts val="600"/>
              </a:spcAft>
            </a:pPr>
            <a:r>
              <a:rPr sz="1500" b="0">
                <a:solidFill>
                  <a:srgbClr val="ECEFF1"/>
                </a:solidFill>
                <a:latin typeface="Calibri"/>
              </a:rPr>
              <a:t>Mehmet Yiğit Tutaş  ·  Ozan Özak</a:t>
            </a:r>
          </a:p>
        </p:txBody>
      </p:sp>
      <p:sp>
        <p:nvSpPr>
          <p:cNvPr id="11" name="TextBox 10"/>
          <p:cNvSpPr txBox="1"/>
          <p:nvPr/>
        </p:nvSpPr>
        <p:spPr>
          <a:xfrm>
            <a:off x="822960" y="5120640"/>
            <a:ext cx="10058400" cy="365760"/>
          </a:xfrm>
          <a:prstGeom prst="rect">
            <a:avLst/>
          </a:prstGeom>
          <a:noFill/>
        </p:spPr>
        <p:txBody>
          <a:bodyPr wrap="square" anchor="t"/>
          <a:lstStyle/>
          <a:p>
            <a:pPr algn="l">
              <a:lnSpc>
                <a:spcPct val="100000"/>
              </a:lnSpc>
              <a:spcBef>
                <a:spcPts val="0"/>
              </a:spcBef>
              <a:spcAft>
                <a:spcPts val="600"/>
              </a:spcAft>
            </a:pPr>
            <a:r>
              <a:rPr sz="1300" b="0">
                <a:solidFill>
                  <a:srgbClr val="76828E"/>
                </a:solidFill>
                <a:latin typeface="Calibri"/>
              </a:rPr>
              <a:t>Computer Graphics Course Project</a:t>
            </a:r>
          </a:p>
        </p:txBody>
      </p:sp>
      <p:sp>
        <p:nvSpPr>
          <p:cNvPr id="12" name="TextBox 11"/>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What's New Since the Mid-Demo</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Recap · Delivered Extensions</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Recap — Base Viewer (Mid-Demo)</a:t>
            </a:r>
          </a:p>
        </p:txBody>
      </p:sp>
      <p:sp>
        <p:nvSpPr>
          <p:cNvPr id="10" name="TextBox 9"/>
          <p:cNvSpPr txBox="1"/>
          <p:nvPr/>
        </p:nvSpPr>
        <p:spPr>
          <a:xfrm>
            <a:off x="777240" y="1874520"/>
            <a:ext cx="4846320" cy="2743200"/>
          </a:xfrm>
          <a:prstGeom prst="rect">
            <a:avLst/>
          </a:prstGeom>
          <a:noFill/>
        </p:spPr>
        <p:txBody>
          <a:bodyPr wrap="square" anchor="t"/>
          <a:lstStyle/>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glTF 2.0 loading — geometry, skeleton, animation, textures</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Forward Kinematics: global[i] = global[parent] × local[i]</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GPU Linear Blend Skinning (4 bone influences / vertex)</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TRS-level blending with SLERP · ImGui debug panel</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60 FPS on CesiumMan &amp; RiggedFigure</a:t>
            </a:r>
          </a:p>
        </p:txBody>
      </p:sp>
      <p:sp>
        <p:nvSpPr>
          <p:cNvPr id="11" name="TextBox 10"/>
          <p:cNvSpPr txBox="1"/>
          <p:nvPr/>
        </p:nvSpPr>
        <p:spPr>
          <a:xfrm>
            <a:off x="777240" y="4434840"/>
            <a:ext cx="4800600" cy="1463040"/>
          </a:xfrm>
          <a:prstGeom prst="rect">
            <a:avLst/>
          </a:prstGeom>
          <a:noFill/>
        </p:spPr>
        <p:txBody>
          <a:bodyPr wrap="square" anchor="t"/>
          <a:lstStyle/>
          <a:p>
            <a:pPr algn="l">
              <a:lnSpc>
                <a:spcPct val="110000"/>
              </a:lnSpc>
              <a:spcBef>
                <a:spcPts val="0"/>
              </a:spcBef>
              <a:spcAft>
                <a:spcPts val="600"/>
              </a:spcAft>
            </a:pPr>
            <a:r>
              <a:rPr sz="1250" b="0">
                <a:solidFill>
                  <a:srgbClr val="76828E"/>
                </a:solidFill>
                <a:latin typeface="Calibri"/>
              </a:rPr>
              <a:t>The base pipeline is the foundation; the four extensions below build directly on its FK + skinning core.</a:t>
            </a:r>
          </a:p>
        </p:txBody>
      </p:sp>
      <p:sp>
        <p:nvSpPr>
          <p:cNvPr id="12" name="Rounded Rectangle 11"/>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Four New Extensions</a:t>
            </a:r>
          </a:p>
        </p:txBody>
      </p:sp>
      <p:sp>
        <p:nvSpPr>
          <p:cNvPr id="15" name="Oval 14"/>
          <p:cNvSpPr/>
          <p:nvPr/>
        </p:nvSpPr>
        <p:spPr>
          <a:xfrm>
            <a:off x="6629400" y="2011680"/>
            <a:ext cx="457200" cy="457200"/>
          </a:xfrm>
          <a:prstGeom prst="ellipse">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2048256"/>
            <a:ext cx="457200" cy="365760"/>
          </a:xfrm>
          <a:prstGeom prst="rect">
            <a:avLst/>
          </a:prstGeom>
          <a:noFill/>
        </p:spPr>
        <p:txBody>
          <a:bodyPr wrap="square" anchor="t"/>
          <a:lstStyle/>
          <a:p>
            <a:pPr algn="ctr">
              <a:lnSpc>
                <a:spcPct val="100000"/>
              </a:lnSpc>
              <a:spcBef>
                <a:spcPts val="0"/>
              </a:spcBef>
              <a:spcAft>
                <a:spcPts val="600"/>
              </a:spcAft>
            </a:pPr>
            <a:r>
              <a:rPr sz="1600" b="1">
                <a:solidFill>
                  <a:srgbClr val="0B0E12"/>
                </a:solidFill>
                <a:latin typeface="Calibri"/>
              </a:rPr>
              <a:t>1</a:t>
            </a:r>
          </a:p>
        </p:txBody>
      </p:sp>
      <p:sp>
        <p:nvSpPr>
          <p:cNvPr id="17" name="TextBox 16"/>
          <p:cNvSpPr txBox="1"/>
          <p:nvPr/>
        </p:nvSpPr>
        <p:spPr>
          <a:xfrm>
            <a:off x="7251192" y="1984248"/>
            <a:ext cx="4251960" cy="457200"/>
          </a:xfrm>
          <a:prstGeom prst="rect">
            <a:avLst/>
          </a:prstGeom>
          <a:noFill/>
        </p:spPr>
        <p:txBody>
          <a:bodyPr wrap="square" anchor="t"/>
          <a:lstStyle/>
          <a:p>
            <a:pPr algn="l">
              <a:lnSpc>
                <a:spcPct val="100000"/>
              </a:lnSpc>
              <a:spcBef>
                <a:spcPts val="0"/>
              </a:spcBef>
              <a:spcAft>
                <a:spcPts val="600"/>
              </a:spcAft>
            </a:pPr>
            <a:r>
              <a:rPr sz="1550" b="1">
                <a:solidFill>
                  <a:srgbClr val="ECEFF1"/>
                </a:solidFill>
                <a:latin typeface="Calibri"/>
              </a:rPr>
              <a:t>Shadow Mapping</a:t>
            </a:r>
          </a:p>
        </p:txBody>
      </p:sp>
      <p:sp>
        <p:nvSpPr>
          <p:cNvPr id="18" name="TextBox 17"/>
          <p:cNvSpPr txBox="1"/>
          <p:nvPr/>
        </p:nvSpPr>
        <p:spPr>
          <a:xfrm>
            <a:off x="7251192" y="2322576"/>
            <a:ext cx="4251960" cy="365760"/>
          </a:xfrm>
          <a:prstGeom prst="rect">
            <a:avLst/>
          </a:prstGeom>
          <a:noFill/>
        </p:spPr>
        <p:txBody>
          <a:bodyPr wrap="square" anchor="t"/>
          <a:lstStyle/>
          <a:p>
            <a:pPr algn="l">
              <a:lnSpc>
                <a:spcPct val="100000"/>
              </a:lnSpc>
              <a:spcBef>
                <a:spcPts val="0"/>
              </a:spcBef>
              <a:spcAft>
                <a:spcPts val="600"/>
              </a:spcAft>
            </a:pPr>
            <a:r>
              <a:rPr sz="1200" b="0">
                <a:solidFill>
                  <a:srgbClr val="76828E"/>
                </a:solidFill>
                <a:latin typeface="Calibri"/>
              </a:rPr>
              <a:t>two-pass depth · PCF soft shadows</a:t>
            </a:r>
          </a:p>
        </p:txBody>
      </p:sp>
      <p:sp>
        <p:nvSpPr>
          <p:cNvPr id="19" name="Oval 18"/>
          <p:cNvSpPr/>
          <p:nvPr/>
        </p:nvSpPr>
        <p:spPr>
          <a:xfrm>
            <a:off x="6629400" y="2971800"/>
            <a:ext cx="457200" cy="457200"/>
          </a:xfrm>
          <a:prstGeom prst="ellipse">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3008376"/>
            <a:ext cx="457200" cy="365760"/>
          </a:xfrm>
          <a:prstGeom prst="rect">
            <a:avLst/>
          </a:prstGeom>
          <a:noFill/>
        </p:spPr>
        <p:txBody>
          <a:bodyPr wrap="square" anchor="t"/>
          <a:lstStyle/>
          <a:p>
            <a:pPr algn="ctr">
              <a:lnSpc>
                <a:spcPct val="100000"/>
              </a:lnSpc>
              <a:spcBef>
                <a:spcPts val="0"/>
              </a:spcBef>
              <a:spcAft>
                <a:spcPts val="600"/>
              </a:spcAft>
            </a:pPr>
            <a:r>
              <a:rPr sz="1600" b="1">
                <a:solidFill>
                  <a:srgbClr val="0B0E12"/>
                </a:solidFill>
                <a:latin typeface="Calibri"/>
              </a:rPr>
              <a:t>2</a:t>
            </a:r>
          </a:p>
        </p:txBody>
      </p:sp>
      <p:sp>
        <p:nvSpPr>
          <p:cNvPr id="21" name="TextBox 20"/>
          <p:cNvSpPr txBox="1"/>
          <p:nvPr/>
        </p:nvSpPr>
        <p:spPr>
          <a:xfrm>
            <a:off x="7251192" y="2944368"/>
            <a:ext cx="4251960" cy="457200"/>
          </a:xfrm>
          <a:prstGeom prst="rect">
            <a:avLst/>
          </a:prstGeom>
          <a:noFill/>
        </p:spPr>
        <p:txBody>
          <a:bodyPr wrap="square" anchor="t"/>
          <a:lstStyle/>
          <a:p>
            <a:pPr algn="l">
              <a:lnSpc>
                <a:spcPct val="100000"/>
              </a:lnSpc>
              <a:spcBef>
                <a:spcPts val="0"/>
              </a:spcBef>
              <a:spcAft>
                <a:spcPts val="600"/>
              </a:spcAft>
            </a:pPr>
            <a:r>
              <a:rPr sz="1550" b="1">
                <a:solidFill>
                  <a:srgbClr val="ECEFF1"/>
                </a:solidFill>
                <a:latin typeface="Calibri"/>
              </a:rPr>
              <a:t>PBR + Image-Based Lighting</a:t>
            </a:r>
          </a:p>
        </p:txBody>
      </p:sp>
      <p:sp>
        <p:nvSpPr>
          <p:cNvPr id="22" name="TextBox 21"/>
          <p:cNvSpPr txBox="1"/>
          <p:nvPr/>
        </p:nvSpPr>
        <p:spPr>
          <a:xfrm>
            <a:off x="7251192" y="3282696"/>
            <a:ext cx="4251960" cy="365760"/>
          </a:xfrm>
          <a:prstGeom prst="rect">
            <a:avLst/>
          </a:prstGeom>
          <a:noFill/>
        </p:spPr>
        <p:txBody>
          <a:bodyPr wrap="square" anchor="t"/>
          <a:lstStyle/>
          <a:p>
            <a:pPr algn="l">
              <a:lnSpc>
                <a:spcPct val="100000"/>
              </a:lnSpc>
              <a:spcBef>
                <a:spcPts val="0"/>
              </a:spcBef>
              <a:spcAft>
                <a:spcPts val="600"/>
              </a:spcAft>
            </a:pPr>
            <a:r>
              <a:rPr sz="1200" b="0">
                <a:solidFill>
                  <a:srgbClr val="76828E"/>
                </a:solidFill>
                <a:latin typeface="Calibri"/>
              </a:rPr>
              <a:t>metallic-roughness BRDF · split-sum IBL</a:t>
            </a:r>
          </a:p>
        </p:txBody>
      </p:sp>
      <p:sp>
        <p:nvSpPr>
          <p:cNvPr id="23" name="Oval 22"/>
          <p:cNvSpPr/>
          <p:nvPr/>
        </p:nvSpPr>
        <p:spPr>
          <a:xfrm>
            <a:off x="6629400" y="3931920"/>
            <a:ext cx="457200" cy="457200"/>
          </a:xfrm>
          <a:prstGeom prst="ellipse">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3968496"/>
            <a:ext cx="457200" cy="365760"/>
          </a:xfrm>
          <a:prstGeom prst="rect">
            <a:avLst/>
          </a:prstGeom>
          <a:noFill/>
        </p:spPr>
        <p:txBody>
          <a:bodyPr wrap="square" anchor="t"/>
          <a:lstStyle/>
          <a:p>
            <a:pPr algn="ctr">
              <a:lnSpc>
                <a:spcPct val="100000"/>
              </a:lnSpc>
              <a:spcBef>
                <a:spcPts val="0"/>
              </a:spcBef>
              <a:spcAft>
                <a:spcPts val="600"/>
              </a:spcAft>
            </a:pPr>
            <a:r>
              <a:rPr sz="1600" b="1">
                <a:solidFill>
                  <a:srgbClr val="0B0E12"/>
                </a:solidFill>
                <a:latin typeface="Calibri"/>
              </a:rPr>
              <a:t>3</a:t>
            </a:r>
          </a:p>
        </p:txBody>
      </p:sp>
      <p:sp>
        <p:nvSpPr>
          <p:cNvPr id="25" name="TextBox 24"/>
          <p:cNvSpPr txBox="1"/>
          <p:nvPr/>
        </p:nvSpPr>
        <p:spPr>
          <a:xfrm>
            <a:off x="7251192" y="3904488"/>
            <a:ext cx="4251960" cy="457200"/>
          </a:xfrm>
          <a:prstGeom prst="rect">
            <a:avLst/>
          </a:prstGeom>
          <a:noFill/>
        </p:spPr>
        <p:txBody>
          <a:bodyPr wrap="square" anchor="t"/>
          <a:lstStyle/>
          <a:p>
            <a:pPr algn="l">
              <a:lnSpc>
                <a:spcPct val="100000"/>
              </a:lnSpc>
              <a:spcBef>
                <a:spcPts val="0"/>
              </a:spcBef>
              <a:spcAft>
                <a:spcPts val="600"/>
              </a:spcAft>
            </a:pPr>
            <a:r>
              <a:rPr sz="1550" b="1">
                <a:solidFill>
                  <a:srgbClr val="ECEFF1"/>
                </a:solidFill>
                <a:latin typeface="Calibri"/>
              </a:rPr>
              <a:t>Inverse Kinematics</a:t>
            </a:r>
          </a:p>
        </p:txBody>
      </p:sp>
      <p:sp>
        <p:nvSpPr>
          <p:cNvPr id="26" name="TextBox 25"/>
          <p:cNvSpPr txBox="1"/>
          <p:nvPr/>
        </p:nvSpPr>
        <p:spPr>
          <a:xfrm>
            <a:off x="7251192" y="4242816"/>
            <a:ext cx="4251960" cy="365760"/>
          </a:xfrm>
          <a:prstGeom prst="rect">
            <a:avLst/>
          </a:prstGeom>
          <a:noFill/>
        </p:spPr>
        <p:txBody>
          <a:bodyPr wrap="square" anchor="t"/>
          <a:lstStyle/>
          <a:p>
            <a:pPr algn="l">
              <a:lnSpc>
                <a:spcPct val="100000"/>
              </a:lnSpc>
              <a:spcBef>
                <a:spcPts val="0"/>
              </a:spcBef>
              <a:spcAft>
                <a:spcPts val="600"/>
              </a:spcAft>
            </a:pPr>
            <a:r>
              <a:rPr sz="1200" b="0">
                <a:solidFill>
                  <a:srgbClr val="76828E"/>
                </a:solidFill>
                <a:latin typeface="Calibri"/>
              </a:rPr>
              <a:t>two-bone analytic solver</a:t>
            </a:r>
          </a:p>
        </p:txBody>
      </p:sp>
      <p:sp>
        <p:nvSpPr>
          <p:cNvPr id="27" name="Oval 26"/>
          <p:cNvSpPr/>
          <p:nvPr/>
        </p:nvSpPr>
        <p:spPr>
          <a:xfrm>
            <a:off x="6629400" y="4892040"/>
            <a:ext cx="457200" cy="457200"/>
          </a:xfrm>
          <a:prstGeom prst="ellipse">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4928616"/>
            <a:ext cx="457200" cy="365760"/>
          </a:xfrm>
          <a:prstGeom prst="rect">
            <a:avLst/>
          </a:prstGeom>
          <a:noFill/>
        </p:spPr>
        <p:txBody>
          <a:bodyPr wrap="square" anchor="t"/>
          <a:lstStyle/>
          <a:p>
            <a:pPr algn="ctr">
              <a:lnSpc>
                <a:spcPct val="100000"/>
              </a:lnSpc>
              <a:spcBef>
                <a:spcPts val="0"/>
              </a:spcBef>
              <a:spcAft>
                <a:spcPts val="600"/>
              </a:spcAft>
            </a:pPr>
            <a:r>
              <a:rPr sz="1600" b="1">
                <a:solidFill>
                  <a:srgbClr val="0B0E12"/>
                </a:solidFill>
                <a:latin typeface="Calibri"/>
              </a:rPr>
              <a:t>4</a:t>
            </a:r>
          </a:p>
        </p:txBody>
      </p:sp>
      <p:sp>
        <p:nvSpPr>
          <p:cNvPr id="29" name="TextBox 28"/>
          <p:cNvSpPr txBox="1"/>
          <p:nvPr/>
        </p:nvSpPr>
        <p:spPr>
          <a:xfrm>
            <a:off x="7251192" y="4864608"/>
            <a:ext cx="4251960" cy="457200"/>
          </a:xfrm>
          <a:prstGeom prst="rect">
            <a:avLst/>
          </a:prstGeom>
          <a:noFill/>
        </p:spPr>
        <p:txBody>
          <a:bodyPr wrap="square" anchor="t"/>
          <a:lstStyle/>
          <a:p>
            <a:pPr algn="l">
              <a:lnSpc>
                <a:spcPct val="100000"/>
              </a:lnSpc>
              <a:spcBef>
                <a:spcPts val="0"/>
              </a:spcBef>
              <a:spcAft>
                <a:spcPts val="600"/>
              </a:spcAft>
            </a:pPr>
            <a:r>
              <a:rPr sz="1550" b="1">
                <a:solidFill>
                  <a:srgbClr val="ECEFF1"/>
                </a:solidFill>
                <a:latin typeface="Calibri"/>
              </a:rPr>
              <a:t>Animation State Machine</a:t>
            </a:r>
          </a:p>
        </p:txBody>
      </p:sp>
      <p:sp>
        <p:nvSpPr>
          <p:cNvPr id="30" name="TextBox 29"/>
          <p:cNvSpPr txBox="1"/>
          <p:nvPr/>
        </p:nvSpPr>
        <p:spPr>
          <a:xfrm>
            <a:off x="7251192" y="5202936"/>
            <a:ext cx="4251960" cy="365760"/>
          </a:xfrm>
          <a:prstGeom prst="rect">
            <a:avLst/>
          </a:prstGeom>
          <a:noFill/>
        </p:spPr>
        <p:txBody>
          <a:bodyPr wrap="square" anchor="t"/>
          <a:lstStyle/>
          <a:p>
            <a:pPr algn="l">
              <a:lnSpc>
                <a:spcPct val="100000"/>
              </a:lnSpc>
              <a:spcBef>
                <a:spcPts val="0"/>
              </a:spcBef>
              <a:spcAft>
                <a:spcPts val="600"/>
              </a:spcAft>
            </a:pPr>
            <a:r>
              <a:rPr sz="1200" b="0">
                <a:solidFill>
                  <a:srgbClr val="76828E"/>
                </a:solidFill>
                <a:latin typeface="Calibri"/>
              </a:rPr>
              <a:t>keyboard Walk ⇄ Run crossfade</a:t>
            </a:r>
          </a:p>
        </p:txBody>
      </p:sp>
      <p:sp>
        <p:nvSpPr>
          <p:cNvPr id="31" name="TextBox 30"/>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Shadow Mapping — The Idea</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Same question as a shadow ray, answered ahead of time</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The One Question</a:t>
            </a:r>
          </a:p>
        </p:txBody>
      </p:sp>
      <p:sp>
        <p:nvSpPr>
          <p:cNvPr id="10" name="TextBox 9"/>
          <p:cNvSpPr txBox="1"/>
          <p:nvPr/>
        </p:nvSpPr>
        <p:spPr>
          <a:xfrm>
            <a:off x="777240" y="1874520"/>
            <a:ext cx="4846320" cy="1554480"/>
          </a:xfrm>
          <a:prstGeom prst="rect">
            <a:avLst/>
          </a:prstGeom>
          <a:noFill/>
        </p:spPr>
        <p:txBody>
          <a:bodyPr wrap="square" anchor="t"/>
          <a:lstStyle/>
          <a:p>
            <a:pPr algn="l">
              <a:lnSpc>
                <a:spcPct val="104000"/>
              </a:lnSpc>
              <a:spcBef>
                <a:spcPts val="0"/>
              </a:spcBef>
              <a:spcAft>
                <a:spcPts val="1000"/>
              </a:spcAft>
            </a:pPr>
            <a:r>
              <a:rPr sz="1350" b="1">
                <a:solidFill>
                  <a:srgbClr val="2EE68A"/>
                </a:solidFill>
                <a:latin typeface="Calibri"/>
              </a:rPr>
              <a:t>•  </a:t>
            </a:r>
            <a:r>
              <a:rPr sz="1350" b="0">
                <a:solidFill>
                  <a:srgbClr val="ECEFF1"/>
                </a:solidFill>
                <a:latin typeface="Calibri"/>
              </a:rPr>
              <a:t>A spot is in shadow when something stands between it and the light</a:t>
            </a:r>
          </a:p>
          <a:p>
            <a:pPr algn="l">
              <a:lnSpc>
                <a:spcPct val="104000"/>
              </a:lnSpc>
              <a:spcBef>
                <a:spcPts val="0"/>
              </a:spcBef>
              <a:spcAft>
                <a:spcPts val="1000"/>
              </a:spcAft>
            </a:pPr>
            <a:r>
              <a:rPr sz="1350" b="1">
                <a:solidFill>
                  <a:srgbClr val="2EE68A"/>
                </a:solidFill>
                <a:latin typeface="Calibri"/>
              </a:rPr>
              <a:t>•  </a:t>
            </a:r>
            <a:r>
              <a:rPr sz="1350" b="0">
                <a:solidFill>
                  <a:srgbClr val="ECEFF1"/>
                </a:solidFill>
                <a:latin typeface="Calibri"/>
              </a:rPr>
              <a:t>So the only question is: can this spot see the light, or not?</a:t>
            </a:r>
          </a:p>
        </p:txBody>
      </p:sp>
      <p:sp>
        <p:nvSpPr>
          <p:cNvPr id="11" name="TextBox 10"/>
          <p:cNvSpPr txBox="1"/>
          <p:nvPr/>
        </p:nvSpPr>
        <p:spPr>
          <a:xfrm>
            <a:off x="777240" y="3383280"/>
            <a:ext cx="4800600" cy="1188720"/>
          </a:xfrm>
          <a:prstGeom prst="rect">
            <a:avLst/>
          </a:prstGeom>
          <a:noFill/>
        </p:spPr>
        <p:txBody>
          <a:bodyPr wrap="square" anchor="t"/>
          <a:lstStyle/>
          <a:p>
            <a:pPr algn="l">
              <a:lnSpc>
                <a:spcPct val="110000"/>
              </a:lnSpc>
              <a:spcBef>
                <a:spcPts val="0"/>
              </a:spcBef>
              <a:spcAft>
                <a:spcPts val="400"/>
              </a:spcAft>
            </a:pPr>
            <a:r>
              <a:rPr sz="1400" b="1">
                <a:solidFill>
                  <a:srgbClr val="FF7A3C"/>
                </a:solidFill>
                <a:latin typeface="Calibri"/>
              </a:rPr>
              <a:t>Ray tracing</a:t>
            </a:r>
            <a:r>
              <a:rPr sz="1250" b="0">
                <a:solidFill>
                  <a:srgbClr val="ECEFF1"/>
                </a:solidFill>
                <a:latin typeface="Calibri"/>
              </a:rPr>
              <a:t>  — send one ray straight to the light;</a:t>
            </a:r>
          </a:p>
          <a:p>
            <a:pPr algn="l">
              <a:lnSpc>
                <a:spcPct val="110000"/>
              </a:lnSpc>
              <a:spcBef>
                <a:spcPts val="0"/>
              </a:spcBef>
              <a:spcAft>
                <a:spcPts val="400"/>
              </a:spcAft>
            </a:pPr>
            <a:r>
              <a:rPr sz="1250" b="0">
                <a:solidFill>
                  <a:srgbClr val="A8B2BD"/>
                </a:solidFill>
                <a:latin typeface="Calibri"/>
              </a:rPr>
              <a:t>is anything in the way?</a:t>
            </a:r>
          </a:p>
        </p:txBody>
      </p:sp>
      <p:sp>
        <p:nvSpPr>
          <p:cNvPr id="12" name="TextBox 11"/>
          <p:cNvSpPr txBox="1"/>
          <p:nvPr/>
        </p:nvSpPr>
        <p:spPr>
          <a:xfrm>
            <a:off x="777240" y="4389120"/>
            <a:ext cx="4800600" cy="1280160"/>
          </a:xfrm>
          <a:prstGeom prst="rect">
            <a:avLst/>
          </a:prstGeom>
          <a:noFill/>
        </p:spPr>
        <p:txBody>
          <a:bodyPr wrap="square" anchor="t"/>
          <a:lstStyle/>
          <a:p>
            <a:pPr algn="l">
              <a:lnSpc>
                <a:spcPct val="110000"/>
              </a:lnSpc>
              <a:spcBef>
                <a:spcPts val="0"/>
              </a:spcBef>
              <a:spcAft>
                <a:spcPts val="600"/>
              </a:spcAft>
            </a:pPr>
            <a:r>
              <a:rPr sz="1400" b="1">
                <a:solidFill>
                  <a:srgbClr val="3FA9F5"/>
                </a:solidFill>
                <a:latin typeface="Calibri"/>
              </a:rPr>
              <a:t>Path tracing</a:t>
            </a:r>
            <a:r>
              <a:rPr sz="1250" b="0">
                <a:solidFill>
                  <a:srgbClr val="ECEFF1"/>
                </a:solidFill>
                <a:latin typeface="Calibri"/>
              </a:rPr>
              <a:t>  — many bouncing rays; gorgeous,</a:t>
            </a:r>
          </a:p>
          <a:p>
            <a:pPr algn="l">
              <a:lnSpc>
                <a:spcPct val="110000"/>
              </a:lnSpc>
              <a:spcBef>
                <a:spcPts val="0"/>
              </a:spcBef>
              <a:spcAft>
                <a:spcPts val="600"/>
              </a:spcAft>
            </a:pPr>
            <a:r>
              <a:rPr sz="1250" b="0">
                <a:solidFill>
                  <a:srgbClr val="A8B2BD"/>
                </a:solidFill>
                <a:latin typeface="Calibri"/>
              </a:rPr>
              <a:t>but far too slow for real time.</a:t>
            </a:r>
          </a:p>
        </p:txBody>
      </p:sp>
      <p:sp>
        <p:nvSpPr>
          <p:cNvPr id="13" name="Rounded Rectangle 12"/>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55080" y="1234440"/>
            <a:ext cx="64008" cy="4892040"/>
          </a:xfrm>
          <a:prstGeom prst="roundRect">
            <a:avLst>
              <a:gd name="adj" fmla="val 50000"/>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FF7A3C"/>
                </a:solidFill>
                <a:latin typeface="Calibri"/>
              </a:rPr>
              <a:t>Shadow Mapping — Our Shortcut</a:t>
            </a:r>
          </a:p>
        </p:txBody>
      </p:sp>
      <p:sp>
        <p:nvSpPr>
          <p:cNvPr id="16" name="Oval 15"/>
          <p:cNvSpPr/>
          <p:nvPr/>
        </p:nvSpPr>
        <p:spPr>
          <a:xfrm>
            <a:off x="6629400" y="2011680"/>
            <a:ext cx="457200" cy="457200"/>
          </a:xfrm>
          <a:prstGeom prst="ellipse">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2048256"/>
            <a:ext cx="457200" cy="365760"/>
          </a:xfrm>
          <a:prstGeom prst="rect">
            <a:avLst/>
          </a:prstGeom>
          <a:noFill/>
        </p:spPr>
        <p:txBody>
          <a:bodyPr wrap="square" anchor="t"/>
          <a:lstStyle/>
          <a:p>
            <a:pPr algn="ctr">
              <a:lnSpc>
                <a:spcPct val="100000"/>
              </a:lnSpc>
              <a:spcBef>
                <a:spcPts val="0"/>
              </a:spcBef>
              <a:spcAft>
                <a:spcPts val="600"/>
              </a:spcAft>
            </a:pPr>
            <a:r>
              <a:rPr sz="1600" b="1">
                <a:solidFill>
                  <a:srgbClr val="0B0E12"/>
                </a:solidFill>
                <a:latin typeface="Calibri"/>
              </a:rPr>
              <a:t>1</a:t>
            </a:r>
          </a:p>
        </p:txBody>
      </p:sp>
      <p:sp>
        <p:nvSpPr>
          <p:cNvPr id="18" name="TextBox 17"/>
          <p:cNvSpPr txBox="1"/>
          <p:nvPr/>
        </p:nvSpPr>
        <p:spPr>
          <a:xfrm>
            <a:off x="7251192" y="1993392"/>
            <a:ext cx="4206240" cy="1005840"/>
          </a:xfrm>
          <a:prstGeom prst="rect">
            <a:avLst/>
          </a:prstGeom>
          <a:noFill/>
        </p:spPr>
        <p:txBody>
          <a:bodyPr wrap="square" anchor="t"/>
          <a:lstStyle/>
          <a:p>
            <a:pPr algn="l">
              <a:lnSpc>
                <a:spcPct val="108000"/>
              </a:lnSpc>
              <a:spcBef>
                <a:spcPts val="0"/>
              </a:spcBef>
              <a:spcAft>
                <a:spcPts val="600"/>
              </a:spcAft>
            </a:pPr>
            <a:r>
              <a:rPr sz="1300" b="0">
                <a:solidFill>
                  <a:srgbClr val="ECEFF1"/>
                </a:solidFill>
                <a:latin typeface="Calibri"/>
              </a:rPr>
              <a:t>The light takes a “picture” — for every direction, how far away is the nearest thing?</a:t>
            </a:r>
          </a:p>
        </p:txBody>
      </p:sp>
      <p:sp>
        <p:nvSpPr>
          <p:cNvPr id="19" name="Oval 18"/>
          <p:cNvSpPr/>
          <p:nvPr/>
        </p:nvSpPr>
        <p:spPr>
          <a:xfrm>
            <a:off x="6629400" y="3246120"/>
            <a:ext cx="457200" cy="457200"/>
          </a:xfrm>
          <a:prstGeom prst="ellipse">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3282696"/>
            <a:ext cx="457200" cy="365760"/>
          </a:xfrm>
          <a:prstGeom prst="rect">
            <a:avLst/>
          </a:prstGeom>
          <a:noFill/>
        </p:spPr>
        <p:txBody>
          <a:bodyPr wrap="square" anchor="t"/>
          <a:lstStyle/>
          <a:p>
            <a:pPr algn="ctr">
              <a:lnSpc>
                <a:spcPct val="100000"/>
              </a:lnSpc>
              <a:spcBef>
                <a:spcPts val="0"/>
              </a:spcBef>
              <a:spcAft>
                <a:spcPts val="600"/>
              </a:spcAft>
            </a:pPr>
            <a:r>
              <a:rPr sz="1600" b="1">
                <a:solidFill>
                  <a:srgbClr val="0B0E12"/>
                </a:solidFill>
                <a:latin typeface="Calibri"/>
              </a:rPr>
              <a:t>2</a:t>
            </a:r>
          </a:p>
        </p:txBody>
      </p:sp>
      <p:sp>
        <p:nvSpPr>
          <p:cNvPr id="21" name="TextBox 20"/>
          <p:cNvSpPr txBox="1"/>
          <p:nvPr/>
        </p:nvSpPr>
        <p:spPr>
          <a:xfrm>
            <a:off x="7251192" y="3227832"/>
            <a:ext cx="4206240" cy="1005840"/>
          </a:xfrm>
          <a:prstGeom prst="rect">
            <a:avLst/>
          </a:prstGeom>
          <a:noFill/>
        </p:spPr>
        <p:txBody>
          <a:bodyPr wrap="square" anchor="t"/>
          <a:lstStyle/>
          <a:p>
            <a:pPr algn="l">
              <a:lnSpc>
                <a:spcPct val="108000"/>
              </a:lnSpc>
              <a:spcBef>
                <a:spcPts val="0"/>
              </a:spcBef>
              <a:spcAft>
                <a:spcPts val="600"/>
              </a:spcAft>
            </a:pPr>
            <a:r>
              <a:rPr sz="1300" b="0">
                <a:solidFill>
                  <a:srgbClr val="ECEFF1"/>
                </a:solidFill>
                <a:latin typeface="Calibri"/>
              </a:rPr>
              <a:t>While drawing, each spot asks: am I farther away than the nearest thing the light saw?</a:t>
            </a:r>
          </a:p>
        </p:txBody>
      </p:sp>
      <p:sp>
        <p:nvSpPr>
          <p:cNvPr id="22" name="Rounded Rectangle 21"/>
          <p:cNvSpPr/>
          <p:nvPr/>
        </p:nvSpPr>
        <p:spPr>
          <a:xfrm>
            <a:off x="6629400" y="4526280"/>
            <a:ext cx="4800600" cy="640080"/>
          </a:xfrm>
          <a:prstGeom prst="roundRect">
            <a:avLst>
              <a:gd name="adj" fmla="val 20000"/>
            </a:avLst>
          </a:prstGeom>
          <a:solidFill>
            <a:srgbClr val="161B22"/>
          </a:solidFill>
          <a:ln w="12700">
            <a:solidFill>
              <a:srgbClr val="FF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0" y="4645152"/>
            <a:ext cx="4526280" cy="457200"/>
          </a:xfrm>
          <a:prstGeom prst="rect">
            <a:avLst/>
          </a:prstGeom>
          <a:noFill/>
        </p:spPr>
        <p:txBody>
          <a:bodyPr wrap="square" anchor="t"/>
          <a:lstStyle/>
          <a:p>
            <a:pPr algn="l">
              <a:lnSpc>
                <a:spcPct val="100000"/>
              </a:lnSpc>
              <a:spcBef>
                <a:spcPts val="0"/>
              </a:spcBef>
              <a:spcAft>
                <a:spcPts val="600"/>
              </a:spcAft>
            </a:pPr>
            <a:r>
              <a:rPr sz="1300" b="1">
                <a:solidFill>
                  <a:srgbClr val="ECEFF1"/>
                </a:solidFill>
                <a:latin typeface="Calibri"/>
              </a:rPr>
              <a:t>Farther → something is blocking it → in shadow</a:t>
            </a:r>
          </a:p>
        </p:txBody>
      </p:sp>
      <p:sp>
        <p:nvSpPr>
          <p:cNvPr id="24" name="TextBox 23"/>
          <p:cNvSpPr txBox="1"/>
          <p:nvPr/>
        </p:nvSpPr>
        <p:spPr>
          <a:xfrm>
            <a:off x="6629400" y="5349240"/>
            <a:ext cx="4800600" cy="914400"/>
          </a:xfrm>
          <a:prstGeom prst="rect">
            <a:avLst/>
          </a:prstGeom>
          <a:noFill/>
        </p:spPr>
        <p:txBody>
          <a:bodyPr wrap="square" anchor="t"/>
          <a:lstStyle/>
          <a:p>
            <a:pPr algn="l">
              <a:lnSpc>
                <a:spcPct val="112000"/>
              </a:lnSpc>
              <a:spcBef>
                <a:spcPts val="0"/>
              </a:spcBef>
              <a:spcAft>
                <a:spcPts val="600"/>
              </a:spcAft>
            </a:pPr>
            <a:r>
              <a:rPr sz="1150" b="0">
                <a:solidFill>
                  <a:srgbClr val="76828E"/>
                </a:solidFill>
                <a:latin typeface="Calibri"/>
              </a:rPr>
              <a:t>The same “can I see the light?” test as a shadow ray — just done once, ahead of time, instead of one ray at a time.</a:t>
            </a:r>
          </a:p>
        </p:txBody>
      </p:sp>
      <p:sp>
        <p:nvSpPr>
          <p:cNvPr id="25" name="TextBox 24"/>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Shadow Mapping — Soft Edges</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Why edges look jagged — and the simple fix</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The Problem — Jagged Edges</a:t>
            </a:r>
          </a:p>
        </p:txBody>
      </p:sp>
      <p:sp>
        <p:nvSpPr>
          <p:cNvPr id="10" name="TextBox 9"/>
          <p:cNvSpPr txBox="1"/>
          <p:nvPr/>
        </p:nvSpPr>
        <p:spPr>
          <a:xfrm>
            <a:off x="777240" y="1874520"/>
            <a:ext cx="4846320" cy="2926080"/>
          </a:xfrm>
          <a:prstGeom prst="rect">
            <a:avLst/>
          </a:prstGeom>
          <a:noFill/>
        </p:spPr>
        <p:txBody>
          <a:bodyPr wrap="square" anchor="t"/>
          <a:lstStyle/>
          <a:p>
            <a:pPr algn="l">
              <a:lnSpc>
                <a:spcPct val="104000"/>
              </a:lnSpc>
              <a:spcBef>
                <a:spcPts val="0"/>
              </a:spcBef>
              <a:spcAft>
                <a:spcPts val="1200"/>
              </a:spcAft>
            </a:pPr>
            <a:r>
              <a:rPr sz="1350" b="1">
                <a:solidFill>
                  <a:srgbClr val="2EE68A"/>
                </a:solidFill>
                <a:latin typeface="Calibri"/>
              </a:rPr>
              <a:t>•  </a:t>
            </a:r>
            <a:r>
              <a:rPr sz="1350" b="0">
                <a:solidFill>
                  <a:srgbClr val="ECEFF1"/>
                </a:solidFill>
                <a:latin typeface="Calibri"/>
              </a:rPr>
              <a:t>The light's picture is fairly low-resolution</a:t>
            </a:r>
          </a:p>
          <a:p>
            <a:pPr algn="l">
              <a:lnSpc>
                <a:spcPct val="104000"/>
              </a:lnSpc>
              <a:spcBef>
                <a:spcPts val="0"/>
              </a:spcBef>
              <a:spcAft>
                <a:spcPts val="1200"/>
              </a:spcAft>
            </a:pPr>
            <a:r>
              <a:rPr sz="1350" b="1">
                <a:solidFill>
                  <a:srgbClr val="2EE68A"/>
                </a:solidFill>
                <a:latin typeface="Calibri"/>
              </a:rPr>
              <a:t>•  </a:t>
            </a:r>
            <a:r>
              <a:rPr sz="1350" b="0">
                <a:solidFill>
                  <a:srgbClr val="ECEFF1"/>
                </a:solidFill>
                <a:latin typeface="Calibri"/>
              </a:rPr>
              <a:t>Each spot gets a strict yes / no answer — fully shadowed or fully lit, nothing in between</a:t>
            </a:r>
          </a:p>
          <a:p>
            <a:pPr algn="l">
              <a:lnSpc>
                <a:spcPct val="104000"/>
              </a:lnSpc>
              <a:spcBef>
                <a:spcPts val="0"/>
              </a:spcBef>
              <a:spcAft>
                <a:spcPts val="1200"/>
              </a:spcAft>
            </a:pPr>
            <a:r>
              <a:rPr sz="1350" b="1">
                <a:solidFill>
                  <a:srgbClr val="2EE68A"/>
                </a:solidFill>
                <a:latin typeface="Calibri"/>
              </a:rPr>
              <a:t>•  </a:t>
            </a:r>
            <a:r>
              <a:rPr sz="1350" b="0">
                <a:solidFill>
                  <a:srgbClr val="ECEFF1"/>
                </a:solidFill>
                <a:latin typeface="Calibri"/>
              </a:rPr>
              <a:t>So the shadow boundary snaps to those pixels — a blocky, staircased edge</a:t>
            </a:r>
          </a:p>
        </p:txBody>
      </p:sp>
      <p:sp>
        <p:nvSpPr>
          <p:cNvPr id="11" name="TextBox 10"/>
          <p:cNvSpPr txBox="1"/>
          <p:nvPr/>
        </p:nvSpPr>
        <p:spPr>
          <a:xfrm>
            <a:off x="777240" y="4846320"/>
            <a:ext cx="4800600" cy="1005840"/>
          </a:xfrm>
          <a:prstGeom prst="rect">
            <a:avLst/>
          </a:prstGeom>
          <a:noFill/>
        </p:spPr>
        <p:txBody>
          <a:bodyPr wrap="square" anchor="t"/>
          <a:lstStyle/>
          <a:p>
            <a:pPr algn="l">
              <a:lnSpc>
                <a:spcPct val="115000"/>
              </a:lnSpc>
              <a:spcBef>
                <a:spcPts val="0"/>
              </a:spcBef>
              <a:spcAft>
                <a:spcPts val="600"/>
              </a:spcAft>
            </a:pPr>
            <a:r>
              <a:rPr sz="1300" b="1">
                <a:solidFill>
                  <a:srgbClr val="2EE68A"/>
                </a:solidFill>
                <a:latin typeface="Calibri"/>
              </a:rPr>
              <a:t>Hard edge</a:t>
            </a:r>
          </a:p>
          <a:p>
            <a:pPr algn="l">
              <a:lnSpc>
                <a:spcPct val="115000"/>
              </a:lnSpc>
              <a:spcBef>
                <a:spcPts val="0"/>
              </a:spcBef>
              <a:spcAft>
                <a:spcPts val="600"/>
              </a:spcAft>
            </a:pPr>
            <a:r>
              <a:rPr sz="1250" b="0">
                <a:solidFill>
                  <a:srgbClr val="A8B2BD"/>
                </a:solidFill>
                <a:latin typeface="Calibri"/>
              </a:rPr>
              <a:t>= asking one person "is it raining here?" → just yes or no.</a:t>
            </a:r>
          </a:p>
        </p:txBody>
      </p:sp>
      <p:sp>
        <p:nvSpPr>
          <p:cNvPr id="12" name="Rounded Rectangle 11"/>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The Fix — Average the Neighbours</a:t>
            </a:r>
          </a:p>
        </p:txBody>
      </p:sp>
      <p:sp>
        <p:nvSpPr>
          <p:cNvPr id="15" name="TextBox 14"/>
          <p:cNvSpPr txBox="1"/>
          <p:nvPr/>
        </p:nvSpPr>
        <p:spPr>
          <a:xfrm>
            <a:off x="6629400" y="1874520"/>
            <a:ext cx="4846320" cy="1828800"/>
          </a:xfrm>
          <a:prstGeom prst="rect">
            <a:avLst/>
          </a:prstGeom>
          <a:noFill/>
        </p:spPr>
        <p:txBody>
          <a:bodyPr wrap="square" anchor="t"/>
          <a:lstStyle/>
          <a:p>
            <a:pPr algn="l">
              <a:lnSpc>
                <a:spcPct val="104000"/>
              </a:lnSpc>
              <a:spcBef>
                <a:spcPts val="0"/>
              </a:spcBef>
              <a:spcAft>
                <a:spcPts val="1000"/>
              </a:spcAft>
            </a:pPr>
            <a:r>
              <a:rPr sz="1350" b="1">
                <a:solidFill>
                  <a:srgbClr val="3FA9F5"/>
                </a:solidFill>
                <a:latin typeface="Calibri"/>
              </a:rPr>
              <a:t>•  </a:t>
            </a:r>
            <a:r>
              <a:rPr sz="1350" b="0">
                <a:solidFill>
                  <a:srgbClr val="ECEFF1"/>
                </a:solidFill>
                <a:latin typeface="Calibri"/>
              </a:rPr>
              <a:t>Instead of checking one point, check a few neighbouring points</a:t>
            </a:r>
          </a:p>
          <a:p>
            <a:pPr algn="l">
              <a:lnSpc>
                <a:spcPct val="104000"/>
              </a:lnSpc>
              <a:spcBef>
                <a:spcPts val="0"/>
              </a:spcBef>
              <a:spcAft>
                <a:spcPts val="1000"/>
              </a:spcAft>
            </a:pPr>
            <a:r>
              <a:rPr sz="1350" b="1">
                <a:solidFill>
                  <a:srgbClr val="3FA9F5"/>
                </a:solidFill>
                <a:latin typeface="Calibri"/>
              </a:rPr>
              <a:t>•  </a:t>
            </a:r>
            <a:r>
              <a:rPr sz="1350" b="0">
                <a:solidFill>
                  <a:srgbClr val="ECEFF1"/>
                </a:solidFill>
                <a:latin typeface="Calibri"/>
              </a:rPr>
              <a:t>Average their yes / no answers → partial shadow right at the edge</a:t>
            </a:r>
          </a:p>
          <a:p>
            <a:pPr algn="l">
              <a:lnSpc>
                <a:spcPct val="104000"/>
              </a:lnSpc>
              <a:spcBef>
                <a:spcPts val="0"/>
              </a:spcBef>
              <a:spcAft>
                <a:spcPts val="1000"/>
              </a:spcAft>
            </a:pPr>
            <a:r>
              <a:rPr sz="1350" b="1">
                <a:solidFill>
                  <a:srgbClr val="3FA9F5"/>
                </a:solidFill>
                <a:latin typeface="Calibri"/>
              </a:rPr>
              <a:t>•  </a:t>
            </a:r>
            <a:r>
              <a:rPr sz="1350" b="0">
                <a:solidFill>
                  <a:srgbClr val="ECEFF1"/>
                </a:solidFill>
                <a:latin typeface="Calibri"/>
              </a:rPr>
              <a:t>That partial value becomes a soft, gradual fade, not a hard line</a:t>
            </a:r>
          </a:p>
        </p:txBody>
      </p:sp>
      <p:sp>
        <p:nvSpPr>
          <p:cNvPr id="16" name="Oval 15"/>
          <p:cNvSpPr/>
          <p:nvPr/>
        </p:nvSpPr>
        <p:spPr>
          <a:xfrm>
            <a:off x="6766560" y="4023360"/>
            <a:ext cx="384048" cy="384048"/>
          </a:xfrm>
          <a:prstGeom prst="ellipse">
            <a:avLst/>
          </a:prstGeom>
          <a:solidFill>
            <a:srgbClr val="2A323C"/>
          </a:solidFill>
          <a:ln w="12700">
            <a:solidFill>
              <a:srgbClr val="7682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60336" y="4023360"/>
            <a:ext cx="384048" cy="384048"/>
          </a:xfrm>
          <a:prstGeom prst="ellipse">
            <a:avLst/>
          </a:prstGeom>
          <a:solidFill>
            <a:srgbClr val="2A323C"/>
          </a:solidFill>
          <a:ln w="12700">
            <a:solidFill>
              <a:srgbClr val="7682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54112" y="4023360"/>
            <a:ext cx="384048" cy="384048"/>
          </a:xfrm>
          <a:prstGeom prst="ellipse">
            <a:avLst/>
          </a:prstGeom>
          <a:solidFill>
            <a:srgbClr val="F2E9C0"/>
          </a:solidFill>
          <a:ln w="12700">
            <a:solidFill>
              <a:srgbClr val="C9B8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6560" y="4517136"/>
            <a:ext cx="384048" cy="384048"/>
          </a:xfrm>
          <a:prstGeom prst="ellipse">
            <a:avLst/>
          </a:prstGeom>
          <a:solidFill>
            <a:srgbClr val="2A323C"/>
          </a:solidFill>
          <a:ln w="12700">
            <a:solidFill>
              <a:srgbClr val="7682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60336" y="4517136"/>
            <a:ext cx="384048" cy="384048"/>
          </a:xfrm>
          <a:prstGeom prst="ellipse">
            <a:avLst/>
          </a:prstGeom>
          <a:solidFill>
            <a:srgbClr val="2A323C"/>
          </a:solidFill>
          <a:ln w="12700">
            <a:solidFill>
              <a:srgbClr val="7682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54112" y="4517136"/>
            <a:ext cx="384048" cy="384048"/>
          </a:xfrm>
          <a:prstGeom prst="ellipse">
            <a:avLst/>
          </a:prstGeom>
          <a:solidFill>
            <a:srgbClr val="F2E9C0"/>
          </a:solidFill>
          <a:ln w="12700">
            <a:solidFill>
              <a:srgbClr val="C9B8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66560" y="5010912"/>
            <a:ext cx="384048" cy="384048"/>
          </a:xfrm>
          <a:prstGeom prst="ellipse">
            <a:avLst/>
          </a:prstGeom>
          <a:solidFill>
            <a:srgbClr val="2A323C"/>
          </a:solidFill>
          <a:ln w="12700">
            <a:solidFill>
              <a:srgbClr val="7682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60336" y="5010912"/>
            <a:ext cx="384048" cy="384048"/>
          </a:xfrm>
          <a:prstGeom prst="ellipse">
            <a:avLst/>
          </a:prstGeom>
          <a:solidFill>
            <a:srgbClr val="F2E9C0"/>
          </a:solidFill>
          <a:ln w="12700">
            <a:solidFill>
              <a:srgbClr val="C9B8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54112" y="5010912"/>
            <a:ext cx="384048" cy="384048"/>
          </a:xfrm>
          <a:prstGeom prst="ellipse">
            <a:avLst/>
          </a:prstGeom>
          <a:solidFill>
            <a:srgbClr val="F2E9C0"/>
          </a:solidFill>
          <a:ln w="12700">
            <a:solidFill>
              <a:srgbClr val="C9B8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0" y="4206240"/>
            <a:ext cx="2971800" cy="1463040"/>
          </a:xfrm>
          <a:prstGeom prst="rect">
            <a:avLst/>
          </a:prstGeom>
          <a:noFill/>
        </p:spPr>
        <p:txBody>
          <a:bodyPr wrap="square" anchor="t"/>
          <a:lstStyle/>
          <a:p>
            <a:pPr algn="l">
              <a:lnSpc>
                <a:spcPct val="110000"/>
              </a:lnSpc>
              <a:spcBef>
                <a:spcPts val="0"/>
              </a:spcBef>
              <a:spcAft>
                <a:spcPts val="600"/>
              </a:spcAft>
            </a:pPr>
            <a:r>
              <a:rPr sz="1400" b="1">
                <a:solidFill>
                  <a:srgbClr val="ECEFF1"/>
                </a:solidFill>
                <a:latin typeface="Calibri"/>
              </a:rPr>
              <a:t>5 of 9 shadowed</a:t>
            </a:r>
          </a:p>
          <a:p>
            <a:pPr algn="l">
              <a:lnSpc>
                <a:spcPct val="110000"/>
              </a:lnSpc>
              <a:spcBef>
                <a:spcPts val="0"/>
              </a:spcBef>
              <a:spcAft>
                <a:spcPts val="600"/>
              </a:spcAft>
            </a:pPr>
            <a:r>
              <a:rPr sz="1300" b="0">
                <a:solidFill>
                  <a:srgbClr val="3FA9F5"/>
                </a:solidFill>
                <a:latin typeface="Calibri"/>
              </a:rPr>
              <a:t>→ about 55% dark —</a:t>
            </a:r>
          </a:p>
          <a:p>
            <a:pPr algn="l">
              <a:lnSpc>
                <a:spcPct val="110000"/>
              </a:lnSpc>
              <a:spcBef>
                <a:spcPts val="0"/>
              </a:spcBef>
              <a:spcAft>
                <a:spcPts val="600"/>
              </a:spcAft>
            </a:pPr>
            <a:r>
              <a:rPr sz="1300" b="0">
                <a:solidFill>
                  <a:srgbClr val="3FA9F5"/>
                </a:solidFill>
                <a:latin typeface="Calibri"/>
              </a:rPr>
              <a:t>a soft middle value</a:t>
            </a:r>
          </a:p>
        </p:txBody>
      </p:sp>
      <p:sp>
        <p:nvSpPr>
          <p:cNvPr id="26" name="TextBox 25"/>
          <p:cNvSpPr txBox="1"/>
          <p:nvPr/>
        </p:nvSpPr>
        <p:spPr>
          <a:xfrm>
            <a:off x="6629400" y="5577840"/>
            <a:ext cx="4800600" cy="457200"/>
          </a:xfrm>
          <a:prstGeom prst="rect">
            <a:avLst/>
          </a:prstGeom>
          <a:noFill/>
        </p:spPr>
        <p:txBody>
          <a:bodyPr wrap="square" anchor="t"/>
          <a:lstStyle/>
          <a:p>
            <a:pPr algn="l">
              <a:lnSpc>
                <a:spcPct val="100000"/>
              </a:lnSpc>
              <a:spcBef>
                <a:spcPts val="0"/>
              </a:spcBef>
              <a:spcAft>
                <a:spcPts val="600"/>
              </a:spcAft>
            </a:pPr>
            <a:r>
              <a:rPr sz="1150" b="0">
                <a:solidFill>
                  <a:srgbClr val="76828E"/>
                </a:solidFill>
                <a:latin typeface="Calibri"/>
              </a:rPr>
              <a:t>A cheap stand-in for the naturally soft shadows a real light gives.</a:t>
            </a:r>
          </a:p>
        </p:txBody>
      </p:sp>
      <p:sp>
        <p:nvSpPr>
          <p:cNvPr id="27" name="TextBox 26"/>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Physically Based Rendering</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Three simple values, real-world light behaviour</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Describe Any Surface With 3 Values</a:t>
            </a:r>
          </a:p>
        </p:txBody>
      </p:sp>
      <p:sp>
        <p:nvSpPr>
          <p:cNvPr id="10" name="TextBox 9"/>
          <p:cNvSpPr txBox="1"/>
          <p:nvPr/>
        </p:nvSpPr>
        <p:spPr>
          <a:xfrm>
            <a:off x="777240" y="1965960"/>
            <a:ext cx="4800600" cy="411480"/>
          </a:xfrm>
          <a:prstGeom prst="rect">
            <a:avLst/>
          </a:prstGeom>
          <a:noFill/>
        </p:spPr>
        <p:txBody>
          <a:bodyPr wrap="square" anchor="t"/>
          <a:lstStyle/>
          <a:p>
            <a:pPr algn="l">
              <a:lnSpc>
                <a:spcPct val="100000"/>
              </a:lnSpc>
              <a:spcBef>
                <a:spcPts val="0"/>
              </a:spcBef>
              <a:spcAft>
                <a:spcPts val="600"/>
              </a:spcAft>
            </a:pPr>
            <a:r>
              <a:rPr sz="1500" b="1">
                <a:solidFill>
                  <a:srgbClr val="2EE68A"/>
                </a:solidFill>
                <a:latin typeface="Calibri"/>
              </a:rPr>
              <a:t>Base Colour</a:t>
            </a:r>
          </a:p>
        </p:txBody>
      </p:sp>
      <p:sp>
        <p:nvSpPr>
          <p:cNvPr id="11" name="TextBox 10"/>
          <p:cNvSpPr txBox="1"/>
          <p:nvPr/>
        </p:nvSpPr>
        <p:spPr>
          <a:xfrm>
            <a:off x="777240" y="2295144"/>
            <a:ext cx="4800600" cy="457200"/>
          </a:xfrm>
          <a:prstGeom prst="rect">
            <a:avLst/>
          </a:prstGeom>
          <a:noFill/>
        </p:spPr>
        <p:txBody>
          <a:bodyPr wrap="square" anchor="t"/>
          <a:lstStyle/>
          <a:p>
            <a:pPr algn="l">
              <a:lnSpc>
                <a:spcPct val="105000"/>
              </a:lnSpc>
              <a:spcBef>
                <a:spcPts val="0"/>
              </a:spcBef>
              <a:spcAft>
                <a:spcPts val="600"/>
              </a:spcAft>
            </a:pPr>
            <a:r>
              <a:rPr sz="1250" b="0">
                <a:solidFill>
                  <a:srgbClr val="A8B2BD"/>
                </a:solidFill>
                <a:latin typeface="Calibri"/>
              </a:rPr>
              <a:t>the basic colour of the surface</a:t>
            </a:r>
          </a:p>
        </p:txBody>
      </p:sp>
      <p:sp>
        <p:nvSpPr>
          <p:cNvPr id="12" name="TextBox 11"/>
          <p:cNvSpPr txBox="1"/>
          <p:nvPr/>
        </p:nvSpPr>
        <p:spPr>
          <a:xfrm>
            <a:off x="777240" y="2834640"/>
            <a:ext cx="4800600" cy="411480"/>
          </a:xfrm>
          <a:prstGeom prst="rect">
            <a:avLst/>
          </a:prstGeom>
          <a:noFill/>
        </p:spPr>
        <p:txBody>
          <a:bodyPr wrap="square" anchor="t"/>
          <a:lstStyle/>
          <a:p>
            <a:pPr algn="l">
              <a:lnSpc>
                <a:spcPct val="100000"/>
              </a:lnSpc>
              <a:spcBef>
                <a:spcPts val="0"/>
              </a:spcBef>
              <a:spcAft>
                <a:spcPts val="600"/>
              </a:spcAft>
            </a:pPr>
            <a:r>
              <a:rPr sz="1500" b="1">
                <a:solidFill>
                  <a:srgbClr val="2EE68A"/>
                </a:solidFill>
                <a:latin typeface="Calibri"/>
              </a:rPr>
              <a:t>Metallic</a:t>
            </a:r>
          </a:p>
        </p:txBody>
      </p:sp>
      <p:sp>
        <p:nvSpPr>
          <p:cNvPr id="13" name="TextBox 12"/>
          <p:cNvSpPr txBox="1"/>
          <p:nvPr/>
        </p:nvSpPr>
        <p:spPr>
          <a:xfrm>
            <a:off x="777240" y="3163824"/>
            <a:ext cx="4800600" cy="457200"/>
          </a:xfrm>
          <a:prstGeom prst="rect">
            <a:avLst/>
          </a:prstGeom>
          <a:noFill/>
        </p:spPr>
        <p:txBody>
          <a:bodyPr wrap="square" anchor="t"/>
          <a:lstStyle/>
          <a:p>
            <a:pPr algn="l">
              <a:lnSpc>
                <a:spcPct val="105000"/>
              </a:lnSpc>
              <a:spcBef>
                <a:spcPts val="0"/>
              </a:spcBef>
              <a:spcAft>
                <a:spcPts val="600"/>
              </a:spcAft>
            </a:pPr>
            <a:r>
              <a:rPr sz="1250" b="0">
                <a:solidFill>
                  <a:srgbClr val="A8B2BD"/>
                </a:solidFill>
                <a:latin typeface="Calibri"/>
              </a:rPr>
              <a:t>is it metal or not?  0 = plastic / wood,  1 = metal</a:t>
            </a:r>
          </a:p>
        </p:txBody>
      </p:sp>
      <p:sp>
        <p:nvSpPr>
          <p:cNvPr id="14" name="TextBox 13"/>
          <p:cNvSpPr txBox="1"/>
          <p:nvPr/>
        </p:nvSpPr>
        <p:spPr>
          <a:xfrm>
            <a:off x="777240" y="3703320"/>
            <a:ext cx="4800600" cy="411480"/>
          </a:xfrm>
          <a:prstGeom prst="rect">
            <a:avLst/>
          </a:prstGeom>
          <a:noFill/>
        </p:spPr>
        <p:txBody>
          <a:bodyPr wrap="square" anchor="t"/>
          <a:lstStyle/>
          <a:p>
            <a:pPr algn="l">
              <a:lnSpc>
                <a:spcPct val="100000"/>
              </a:lnSpc>
              <a:spcBef>
                <a:spcPts val="0"/>
              </a:spcBef>
              <a:spcAft>
                <a:spcPts val="600"/>
              </a:spcAft>
            </a:pPr>
            <a:r>
              <a:rPr sz="1500" b="1">
                <a:solidFill>
                  <a:srgbClr val="2EE68A"/>
                </a:solidFill>
                <a:latin typeface="Calibri"/>
              </a:rPr>
              <a:t>Roughness</a:t>
            </a:r>
          </a:p>
        </p:txBody>
      </p:sp>
      <p:sp>
        <p:nvSpPr>
          <p:cNvPr id="15" name="TextBox 14"/>
          <p:cNvSpPr txBox="1"/>
          <p:nvPr/>
        </p:nvSpPr>
        <p:spPr>
          <a:xfrm>
            <a:off x="777240" y="4032504"/>
            <a:ext cx="4800600" cy="457200"/>
          </a:xfrm>
          <a:prstGeom prst="rect">
            <a:avLst/>
          </a:prstGeom>
          <a:noFill/>
        </p:spPr>
        <p:txBody>
          <a:bodyPr wrap="square" anchor="t"/>
          <a:lstStyle/>
          <a:p>
            <a:pPr algn="l">
              <a:lnSpc>
                <a:spcPct val="105000"/>
              </a:lnSpc>
              <a:spcBef>
                <a:spcPts val="0"/>
              </a:spcBef>
              <a:spcAft>
                <a:spcPts val="600"/>
              </a:spcAft>
            </a:pPr>
            <a:r>
              <a:rPr sz="1250" b="0">
                <a:solidFill>
                  <a:srgbClr val="A8B2BD"/>
                </a:solidFill>
                <a:latin typeface="Calibri"/>
              </a:rPr>
              <a:t>smooth = sharp mirror,  rough = soft matte</a:t>
            </a:r>
          </a:p>
        </p:txBody>
      </p:sp>
      <p:sp>
        <p:nvSpPr>
          <p:cNvPr id="16" name="Rounded Rectangle 15"/>
          <p:cNvSpPr/>
          <p:nvPr/>
        </p:nvSpPr>
        <p:spPr>
          <a:xfrm>
            <a:off x="777240" y="4617720"/>
            <a:ext cx="4800600" cy="1051560"/>
          </a:xfrm>
          <a:prstGeom prst="roundRect">
            <a:avLst>
              <a:gd name="adj" fmla="val 10000"/>
            </a:avLst>
          </a:prstGeom>
          <a:solidFill>
            <a:srgbClr val="161B22"/>
          </a:solidFill>
          <a:ln w="12700">
            <a:solidFill>
              <a:srgbClr val="2E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4754880"/>
            <a:ext cx="4526280" cy="822960"/>
          </a:xfrm>
          <a:prstGeom prst="rect">
            <a:avLst/>
          </a:prstGeom>
          <a:noFill/>
        </p:spPr>
        <p:txBody>
          <a:bodyPr wrap="square" anchor="t"/>
          <a:lstStyle/>
          <a:p>
            <a:pPr algn="l">
              <a:lnSpc>
                <a:spcPct val="110000"/>
              </a:lnSpc>
              <a:spcBef>
                <a:spcPts val="0"/>
              </a:spcBef>
              <a:spcAft>
                <a:spcPts val="600"/>
              </a:spcAft>
            </a:pPr>
            <a:r>
              <a:rPr sz="1300" b="1">
                <a:solidFill>
                  <a:srgbClr val="2EE68A"/>
                </a:solidFill>
                <a:latin typeface="Calibri"/>
              </a:rPr>
              <a:t>Live demo</a:t>
            </a:r>
          </a:p>
          <a:p>
            <a:pPr algn="l">
              <a:lnSpc>
                <a:spcPct val="110000"/>
              </a:lnSpc>
              <a:spcBef>
                <a:spcPts val="0"/>
              </a:spcBef>
              <a:spcAft>
                <a:spcPts val="600"/>
              </a:spcAft>
            </a:pPr>
            <a:r>
              <a:rPr sz="1200" b="0">
                <a:solidFill>
                  <a:srgbClr val="A8B2BD"/>
                </a:solidFill>
                <a:latin typeface="Calibri"/>
              </a:rPr>
              <a:t>Drag Metallic and Roughness — the same model goes from matte plastic to a chrome mirror.</a:t>
            </a:r>
          </a:p>
        </p:txBody>
      </p:sp>
      <p:sp>
        <p:nvSpPr>
          <p:cNvPr id="18" name="Rounded Rectangle 17"/>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How It Lights Each Pixel</a:t>
            </a:r>
          </a:p>
        </p:txBody>
      </p:sp>
      <p:sp>
        <p:nvSpPr>
          <p:cNvPr id="21" name="TextBox 20"/>
          <p:cNvSpPr txBox="1"/>
          <p:nvPr/>
        </p:nvSpPr>
        <p:spPr>
          <a:xfrm>
            <a:off x="6629400" y="1874520"/>
            <a:ext cx="4846320" cy="2377440"/>
          </a:xfrm>
          <a:prstGeom prst="rect">
            <a:avLst/>
          </a:prstGeom>
          <a:noFill/>
        </p:spPr>
        <p:txBody>
          <a:bodyPr wrap="square" anchor="t"/>
          <a:lstStyle/>
          <a:p>
            <a:pPr algn="l">
              <a:lnSpc>
                <a:spcPct val="104000"/>
              </a:lnSpc>
              <a:spcBef>
                <a:spcPts val="0"/>
              </a:spcBef>
              <a:spcAft>
                <a:spcPts val="1100"/>
              </a:spcAft>
            </a:pPr>
            <a:r>
              <a:rPr sz="1350" b="1">
                <a:solidFill>
                  <a:srgbClr val="3FA9F5"/>
                </a:solidFill>
                <a:latin typeface="Calibri"/>
              </a:rPr>
              <a:t>•  </a:t>
            </a:r>
            <a:r>
              <a:rPr sz="1350" b="0">
                <a:solidFill>
                  <a:srgbClr val="ECEFF1"/>
                </a:solidFill>
                <a:latin typeface="Calibri"/>
              </a:rPr>
              <a:t>Add two things: the soft, even base colour, and the shiny highlights and reflections on top</a:t>
            </a:r>
          </a:p>
          <a:p>
            <a:pPr algn="l">
              <a:lnSpc>
                <a:spcPct val="104000"/>
              </a:lnSpc>
              <a:spcBef>
                <a:spcPts val="0"/>
              </a:spcBef>
              <a:spcAft>
                <a:spcPts val="1100"/>
              </a:spcAft>
            </a:pPr>
            <a:r>
              <a:rPr sz="1350" b="1">
                <a:solidFill>
                  <a:srgbClr val="3FA9F5"/>
                </a:solidFill>
                <a:latin typeface="Calibri"/>
              </a:rPr>
              <a:t>•  </a:t>
            </a:r>
            <a:r>
              <a:rPr sz="1350" b="0">
                <a:solidFill>
                  <a:srgbClr val="ECEFF1"/>
                </a:solidFill>
                <a:latin typeface="Calibri"/>
              </a:rPr>
              <a:t>Roughness decides how sharp those highlights are</a:t>
            </a:r>
          </a:p>
          <a:p>
            <a:pPr algn="l">
              <a:lnSpc>
                <a:spcPct val="104000"/>
              </a:lnSpc>
              <a:spcBef>
                <a:spcPts val="0"/>
              </a:spcBef>
              <a:spcAft>
                <a:spcPts val="1100"/>
              </a:spcAft>
            </a:pPr>
            <a:r>
              <a:rPr sz="1350" b="1">
                <a:solidFill>
                  <a:srgbClr val="3FA9F5"/>
                </a:solidFill>
                <a:latin typeface="Calibri"/>
              </a:rPr>
              <a:t>•  </a:t>
            </a:r>
            <a:r>
              <a:rPr sz="1350" b="0">
                <a:solidFill>
                  <a:srgbClr val="ECEFF1"/>
                </a:solidFill>
                <a:latin typeface="Calibri"/>
              </a:rPr>
              <a:t>Built-in real-world effect: surfaces get more mirror-like edge-on — a tabletop is dull from above, reflective when you look across it</a:t>
            </a:r>
          </a:p>
        </p:txBody>
      </p:sp>
      <p:sp>
        <p:nvSpPr>
          <p:cNvPr id="22" name="Rounded Rectangle 21"/>
          <p:cNvSpPr/>
          <p:nvPr/>
        </p:nvSpPr>
        <p:spPr>
          <a:xfrm>
            <a:off x="6629400" y="4846320"/>
            <a:ext cx="4800600" cy="868680"/>
          </a:xfrm>
          <a:prstGeom prst="roundRect">
            <a:avLst>
              <a:gd name="adj" fmla="val 14000"/>
            </a:avLst>
          </a:prstGeom>
          <a:solidFill>
            <a:srgbClr val="161B22"/>
          </a:solidFill>
          <a:ln w="12700">
            <a:solidFill>
              <a:srgbClr val="2E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93992" y="5056631"/>
            <a:ext cx="4526280" cy="548640"/>
          </a:xfrm>
          <a:prstGeom prst="rect">
            <a:avLst/>
          </a:prstGeom>
          <a:noFill/>
        </p:spPr>
        <p:txBody>
          <a:bodyPr wrap="square" anchor="t"/>
          <a:lstStyle/>
          <a:p>
            <a:pPr algn="l">
              <a:lnSpc>
                <a:spcPct val="110000"/>
              </a:lnSpc>
              <a:spcBef>
                <a:spcPts val="0"/>
              </a:spcBef>
              <a:spcAft>
                <a:spcPts val="600"/>
              </a:spcAft>
            </a:pPr>
            <a:r>
              <a:rPr sz="1300" b="1">
                <a:solidFill>
                  <a:srgbClr val="ECEFF1"/>
                </a:solidFill>
                <a:latin typeface="Calibri"/>
              </a:rPr>
              <a:t>It follows real physics — so it looks correct under any lighting.</a:t>
            </a:r>
          </a:p>
        </p:txBody>
      </p:sp>
      <p:sp>
        <p:nvSpPr>
          <p:cNvPr id="24" name="TextBox 23"/>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Image-Based Lighting</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Light the model with its whole surroundings</a:t>
            </a:r>
          </a:p>
        </p:txBody>
      </p:sp>
      <p:sp>
        <p:nvSpPr>
          <p:cNvPr id="7" name="Rounded Rectangle 6"/>
          <p:cNvSpPr/>
          <p:nvPr/>
        </p:nvSpPr>
        <p:spPr>
          <a:xfrm>
            <a:off x="502920" y="1234440"/>
            <a:ext cx="3291840" cy="822960"/>
          </a:xfrm>
          <a:prstGeom prst="roundRect">
            <a:avLst>
              <a:gd name="adj" fmla="val 12000"/>
            </a:avLst>
          </a:prstGeom>
          <a:solidFill>
            <a:srgbClr val="161B22"/>
          </a:solidFill>
          <a:ln w="15875">
            <a:solidFill>
              <a:srgbClr val="FF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62456"/>
            <a:ext cx="3291840" cy="822960"/>
          </a:xfrm>
          <a:prstGeom prst="rect">
            <a:avLst/>
          </a:prstGeom>
          <a:noFill/>
        </p:spPr>
        <p:txBody>
          <a:bodyPr wrap="square" anchor="t"/>
          <a:lstStyle/>
          <a:p>
            <a:pPr algn="ctr">
              <a:lnSpc>
                <a:spcPct val="100000"/>
              </a:lnSpc>
              <a:spcBef>
                <a:spcPts val="0"/>
              </a:spcBef>
              <a:spcAft>
                <a:spcPts val="100"/>
              </a:spcAft>
            </a:pPr>
            <a:r>
              <a:rPr sz="1400" b="1">
                <a:solidFill>
                  <a:srgbClr val="ECEFF1"/>
                </a:solidFill>
                <a:latin typeface="Calibri"/>
              </a:rPr>
              <a:t>Build a sky</a:t>
            </a:r>
          </a:p>
          <a:p>
            <a:pPr algn="ctr">
              <a:lnSpc>
                <a:spcPct val="100000"/>
              </a:lnSpc>
              <a:spcBef>
                <a:spcPts val="0"/>
              </a:spcBef>
              <a:spcAft>
                <a:spcPts val="100"/>
              </a:spcAft>
            </a:pPr>
            <a:r>
              <a:rPr sz="1400" b="1">
                <a:solidFill>
                  <a:srgbClr val="ECEFF1"/>
                </a:solidFill>
                <a:latin typeface="Calibri"/>
              </a:rPr>
              <a:t>in code</a:t>
            </a:r>
          </a:p>
        </p:txBody>
      </p:sp>
      <p:sp>
        <p:nvSpPr>
          <p:cNvPr id="9" name="TextBox 8"/>
          <p:cNvSpPr txBox="1"/>
          <p:nvPr/>
        </p:nvSpPr>
        <p:spPr>
          <a:xfrm>
            <a:off x="3867912" y="1399032"/>
            <a:ext cx="411480" cy="457200"/>
          </a:xfrm>
          <a:prstGeom prst="rect">
            <a:avLst/>
          </a:prstGeom>
          <a:noFill/>
        </p:spPr>
        <p:txBody>
          <a:bodyPr wrap="square" anchor="t"/>
          <a:lstStyle/>
          <a:p>
            <a:pPr algn="ctr">
              <a:lnSpc>
                <a:spcPct val="100000"/>
              </a:lnSpc>
              <a:spcBef>
                <a:spcPts val="0"/>
              </a:spcBef>
              <a:spcAft>
                <a:spcPts val="600"/>
              </a:spcAft>
            </a:pPr>
            <a:r>
              <a:rPr sz="2200" b="1">
                <a:solidFill>
                  <a:srgbClr val="76828E"/>
                </a:solidFill>
                <a:latin typeface="Calibri"/>
              </a:rPr>
              <a:t>→</a:t>
            </a:r>
          </a:p>
        </p:txBody>
      </p:sp>
      <p:sp>
        <p:nvSpPr>
          <p:cNvPr id="10" name="Rounded Rectangle 9"/>
          <p:cNvSpPr/>
          <p:nvPr/>
        </p:nvSpPr>
        <p:spPr>
          <a:xfrm>
            <a:off x="4297680" y="1234440"/>
            <a:ext cx="3291840" cy="822960"/>
          </a:xfrm>
          <a:prstGeom prst="roundRect">
            <a:avLst>
              <a:gd name="adj" fmla="val 12000"/>
            </a:avLst>
          </a:prstGeom>
          <a:solidFill>
            <a:srgbClr val="161B22"/>
          </a:solidFill>
          <a:ln w="15875">
            <a:solidFill>
              <a:srgbClr val="3FA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362456"/>
            <a:ext cx="3291840" cy="822960"/>
          </a:xfrm>
          <a:prstGeom prst="rect">
            <a:avLst/>
          </a:prstGeom>
          <a:noFill/>
        </p:spPr>
        <p:txBody>
          <a:bodyPr wrap="square" anchor="t"/>
          <a:lstStyle/>
          <a:p>
            <a:pPr algn="ctr">
              <a:lnSpc>
                <a:spcPct val="100000"/>
              </a:lnSpc>
              <a:spcBef>
                <a:spcPts val="0"/>
              </a:spcBef>
              <a:spcAft>
                <a:spcPts val="100"/>
              </a:spcAft>
            </a:pPr>
            <a:r>
              <a:rPr sz="1400" b="1">
                <a:solidFill>
                  <a:srgbClr val="ECEFF1"/>
                </a:solidFill>
                <a:latin typeface="Calibri"/>
              </a:rPr>
              <a:t>Pre-bake into</a:t>
            </a:r>
          </a:p>
          <a:p>
            <a:pPr algn="ctr">
              <a:lnSpc>
                <a:spcPct val="100000"/>
              </a:lnSpc>
              <a:spcBef>
                <a:spcPts val="0"/>
              </a:spcBef>
              <a:spcAft>
                <a:spcPts val="100"/>
              </a:spcAft>
            </a:pPr>
            <a:r>
              <a:rPr sz="1400" b="1">
                <a:solidFill>
                  <a:srgbClr val="ECEFF1"/>
                </a:solidFill>
                <a:latin typeface="Calibri"/>
              </a:rPr>
              <a:t>small images</a:t>
            </a:r>
          </a:p>
        </p:txBody>
      </p:sp>
      <p:sp>
        <p:nvSpPr>
          <p:cNvPr id="12" name="TextBox 11"/>
          <p:cNvSpPr txBox="1"/>
          <p:nvPr/>
        </p:nvSpPr>
        <p:spPr>
          <a:xfrm>
            <a:off x="7662672" y="1399032"/>
            <a:ext cx="411480" cy="457200"/>
          </a:xfrm>
          <a:prstGeom prst="rect">
            <a:avLst/>
          </a:prstGeom>
          <a:noFill/>
        </p:spPr>
        <p:txBody>
          <a:bodyPr wrap="square" anchor="t"/>
          <a:lstStyle/>
          <a:p>
            <a:pPr algn="ctr">
              <a:lnSpc>
                <a:spcPct val="100000"/>
              </a:lnSpc>
              <a:spcBef>
                <a:spcPts val="0"/>
              </a:spcBef>
              <a:spcAft>
                <a:spcPts val="600"/>
              </a:spcAft>
            </a:pPr>
            <a:r>
              <a:rPr sz="2200" b="1">
                <a:solidFill>
                  <a:srgbClr val="76828E"/>
                </a:solidFill>
                <a:latin typeface="Calibri"/>
              </a:rPr>
              <a:t>→</a:t>
            </a:r>
          </a:p>
        </p:txBody>
      </p:sp>
      <p:sp>
        <p:nvSpPr>
          <p:cNvPr id="13" name="Rounded Rectangle 12"/>
          <p:cNvSpPr/>
          <p:nvPr/>
        </p:nvSpPr>
        <p:spPr>
          <a:xfrm>
            <a:off x="8092440" y="1234440"/>
            <a:ext cx="3291840" cy="822960"/>
          </a:xfrm>
          <a:prstGeom prst="roundRect">
            <a:avLst>
              <a:gd name="adj" fmla="val 12000"/>
            </a:avLst>
          </a:prstGeom>
          <a:solidFill>
            <a:srgbClr val="161B22"/>
          </a:solidFill>
          <a:ln w="15875">
            <a:solidFill>
              <a:srgbClr val="2E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362456"/>
            <a:ext cx="3291840" cy="822960"/>
          </a:xfrm>
          <a:prstGeom prst="rect">
            <a:avLst/>
          </a:prstGeom>
          <a:noFill/>
        </p:spPr>
        <p:txBody>
          <a:bodyPr wrap="square" anchor="t"/>
          <a:lstStyle/>
          <a:p>
            <a:pPr algn="ctr">
              <a:lnSpc>
                <a:spcPct val="100000"/>
              </a:lnSpc>
              <a:spcBef>
                <a:spcPts val="0"/>
              </a:spcBef>
              <a:spcAft>
                <a:spcPts val="100"/>
              </a:spcAft>
            </a:pPr>
            <a:r>
              <a:rPr sz="1400" b="1">
                <a:solidFill>
                  <a:srgbClr val="ECEFF1"/>
                </a:solidFill>
                <a:latin typeface="Calibri"/>
              </a:rPr>
              <a:t>Look up while</a:t>
            </a:r>
          </a:p>
          <a:p>
            <a:pPr algn="ctr">
              <a:lnSpc>
                <a:spcPct val="100000"/>
              </a:lnSpc>
              <a:spcBef>
                <a:spcPts val="0"/>
              </a:spcBef>
              <a:spcAft>
                <a:spcPts val="100"/>
              </a:spcAft>
            </a:pPr>
            <a:r>
              <a:rPr sz="1400" b="1">
                <a:solidFill>
                  <a:srgbClr val="ECEFF1"/>
                </a:solidFill>
                <a:latin typeface="Calibri"/>
              </a:rPr>
              <a:t>rendering</a:t>
            </a:r>
          </a:p>
        </p:txBody>
      </p:sp>
      <p:sp>
        <p:nvSpPr>
          <p:cNvPr id="15" name="Rounded Rectangle 14"/>
          <p:cNvSpPr/>
          <p:nvPr/>
        </p:nvSpPr>
        <p:spPr>
          <a:xfrm>
            <a:off x="502920" y="2286000"/>
            <a:ext cx="5349240" cy="32918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 y="2286000"/>
            <a:ext cx="64008" cy="32918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241401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The Idea</a:t>
            </a:r>
          </a:p>
        </p:txBody>
      </p:sp>
      <p:sp>
        <p:nvSpPr>
          <p:cNvPr id="18" name="TextBox 17"/>
          <p:cNvSpPr txBox="1"/>
          <p:nvPr/>
        </p:nvSpPr>
        <p:spPr>
          <a:xfrm>
            <a:off x="777240" y="2926080"/>
            <a:ext cx="4846320" cy="2468880"/>
          </a:xfrm>
          <a:prstGeom prst="rect">
            <a:avLst/>
          </a:prstGeom>
          <a:noFill/>
        </p:spPr>
        <p:txBody>
          <a:bodyPr wrap="square" anchor="t"/>
          <a:lstStyle/>
          <a:p>
            <a:pPr algn="l">
              <a:lnSpc>
                <a:spcPct val="104000"/>
              </a:lnSpc>
              <a:spcBef>
                <a:spcPts val="0"/>
              </a:spcBef>
              <a:spcAft>
                <a:spcPts val="1200"/>
              </a:spcAft>
            </a:pPr>
            <a:r>
              <a:rPr sz="1350" b="1">
                <a:solidFill>
                  <a:srgbClr val="2EE68A"/>
                </a:solidFill>
                <a:latin typeface="Calibri"/>
              </a:rPr>
              <a:t>•  </a:t>
            </a:r>
            <a:r>
              <a:rPr sz="1350" b="0">
                <a:solidFill>
                  <a:srgbClr val="ECEFF1"/>
                </a:solidFill>
                <a:latin typeface="Calibri"/>
              </a:rPr>
              <a:t>Light the character with its whole environment, not just one lamp</a:t>
            </a:r>
          </a:p>
          <a:p>
            <a:pPr algn="l">
              <a:lnSpc>
                <a:spcPct val="104000"/>
              </a:lnSpc>
              <a:spcBef>
                <a:spcPts val="0"/>
              </a:spcBef>
              <a:spcAft>
                <a:spcPts val="1200"/>
              </a:spcAft>
            </a:pPr>
            <a:r>
              <a:rPr sz="1350" b="1">
                <a:solidFill>
                  <a:srgbClr val="2EE68A"/>
                </a:solidFill>
                <a:latin typeface="Calibri"/>
              </a:rPr>
              <a:t>•  </a:t>
            </a:r>
            <a:r>
              <a:rPr sz="1350" b="0">
                <a:solidFill>
                  <a:srgbClr val="ECEFF1"/>
                </a:solidFill>
                <a:latin typeface="Calibri"/>
              </a:rPr>
              <a:t>Metal reflects the sky; the shaded side picks up colour from around it</a:t>
            </a:r>
          </a:p>
          <a:p>
            <a:pPr algn="l">
              <a:lnSpc>
                <a:spcPct val="104000"/>
              </a:lnSpc>
              <a:spcBef>
                <a:spcPts val="0"/>
              </a:spcBef>
              <a:spcAft>
                <a:spcPts val="1200"/>
              </a:spcAft>
            </a:pPr>
            <a:r>
              <a:rPr sz="1350" b="1">
                <a:solidFill>
                  <a:srgbClr val="2EE68A"/>
                </a:solidFill>
                <a:latin typeface="Calibri"/>
              </a:rPr>
              <a:t>•  </a:t>
            </a:r>
            <a:r>
              <a:rPr sz="1350" b="0">
                <a:solidFill>
                  <a:srgbClr val="ECEFF1"/>
                </a:solidFill>
                <a:latin typeface="Calibri"/>
              </a:rPr>
              <a:t>Replaces the old flat, lifeless constant ambient</a:t>
            </a:r>
          </a:p>
        </p:txBody>
      </p:sp>
      <p:sp>
        <p:nvSpPr>
          <p:cNvPr id="19" name="Rounded Rectangle 18"/>
          <p:cNvSpPr/>
          <p:nvPr/>
        </p:nvSpPr>
        <p:spPr>
          <a:xfrm>
            <a:off x="6355080" y="2286000"/>
            <a:ext cx="5349240" cy="32918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2286000"/>
            <a:ext cx="64008" cy="32918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11112" y="241401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The Trick — Bake Once, Look Up</a:t>
            </a:r>
          </a:p>
        </p:txBody>
      </p:sp>
      <p:sp>
        <p:nvSpPr>
          <p:cNvPr id="22" name="TextBox 21"/>
          <p:cNvSpPr txBox="1"/>
          <p:nvPr/>
        </p:nvSpPr>
        <p:spPr>
          <a:xfrm>
            <a:off x="6629400" y="2926080"/>
            <a:ext cx="4846320" cy="2468880"/>
          </a:xfrm>
          <a:prstGeom prst="rect">
            <a:avLst/>
          </a:prstGeom>
          <a:noFill/>
        </p:spPr>
        <p:txBody>
          <a:bodyPr wrap="square" anchor="t"/>
          <a:lstStyle/>
          <a:p>
            <a:pPr algn="l">
              <a:lnSpc>
                <a:spcPct val="104000"/>
              </a:lnSpc>
              <a:spcBef>
                <a:spcPts val="0"/>
              </a:spcBef>
              <a:spcAft>
                <a:spcPts val="900"/>
              </a:spcAft>
            </a:pPr>
            <a:r>
              <a:rPr sz="1250" b="1">
                <a:solidFill>
                  <a:srgbClr val="3FA9F5"/>
                </a:solidFill>
                <a:latin typeface="Calibri"/>
              </a:rPr>
              <a:t>•  </a:t>
            </a:r>
            <a:r>
              <a:rPr sz="1250" b="0">
                <a:solidFill>
                  <a:srgbClr val="ECEFF1"/>
                </a:solidFill>
                <a:latin typeface="Calibri"/>
              </a:rPr>
              <a:t>Adding light from every direction, for every pixel, is too heavy to do live</a:t>
            </a:r>
          </a:p>
          <a:p>
            <a:pPr algn="l">
              <a:lnSpc>
                <a:spcPct val="104000"/>
              </a:lnSpc>
              <a:spcBef>
                <a:spcPts val="0"/>
              </a:spcBef>
              <a:spcAft>
                <a:spcPts val="900"/>
              </a:spcAft>
            </a:pPr>
            <a:r>
              <a:rPr sz="1250" b="1">
                <a:solidFill>
                  <a:srgbClr val="3FA9F5"/>
                </a:solidFill>
                <a:latin typeface="Calibri"/>
              </a:rPr>
              <a:t>•  </a:t>
            </a:r>
            <a:r>
              <a:rPr sz="1250" b="0">
                <a:solidFill>
                  <a:srgbClr val="ECEFF1"/>
                </a:solidFill>
                <a:latin typeface="Calibri"/>
              </a:rPr>
              <a:t>So we do it once, up front, and save it as a few small images to look up</a:t>
            </a:r>
          </a:p>
          <a:p>
            <a:pPr algn="l">
              <a:lnSpc>
                <a:spcPct val="104000"/>
              </a:lnSpc>
              <a:spcBef>
                <a:spcPts val="0"/>
              </a:spcBef>
              <a:spcAft>
                <a:spcPts val="900"/>
              </a:spcAft>
            </a:pPr>
            <a:r>
              <a:rPr sz="1250" b="1">
                <a:solidFill>
                  <a:srgbClr val="3FA9F5"/>
                </a:solidFill>
                <a:latin typeface="Calibri"/>
              </a:rPr>
              <a:t>•  </a:t>
            </a:r>
            <a:r>
              <a:rPr sz="1250" b="0">
                <a:solidFill>
                  <a:srgbClr val="ECEFF1"/>
                </a:solidFill>
                <a:latin typeface="Calibri"/>
              </a:rPr>
              <a:t>A soft, blurry sky → gentle fill light</a:t>
            </a:r>
          </a:p>
          <a:p>
            <a:pPr algn="l">
              <a:lnSpc>
                <a:spcPct val="104000"/>
              </a:lnSpc>
              <a:spcBef>
                <a:spcPts val="0"/>
              </a:spcBef>
              <a:spcAft>
                <a:spcPts val="900"/>
              </a:spcAft>
            </a:pPr>
            <a:r>
              <a:rPr sz="1250" b="1">
                <a:solidFill>
                  <a:srgbClr val="3FA9F5"/>
                </a:solidFill>
                <a:latin typeface="Calibri"/>
              </a:rPr>
              <a:t>•  </a:t>
            </a:r>
            <a:r>
              <a:rPr sz="1250" b="0">
                <a:solidFill>
                  <a:srgbClr val="ECEFF1"/>
                </a:solidFill>
                <a:latin typeface="Calibri"/>
              </a:rPr>
              <a:t>Sharper-to-blurrier skies → reflections: smooth = mirror, rough = hazy</a:t>
            </a:r>
          </a:p>
        </p:txBody>
      </p:sp>
      <p:sp>
        <p:nvSpPr>
          <p:cNvPr id="23" name="Rounded Rectangle 22"/>
          <p:cNvSpPr/>
          <p:nvPr/>
        </p:nvSpPr>
        <p:spPr>
          <a:xfrm>
            <a:off x="502920" y="5715000"/>
            <a:ext cx="11201400" cy="566928"/>
          </a:xfrm>
          <a:prstGeom prst="roundRect">
            <a:avLst>
              <a:gd name="adj" fmla="val 30000"/>
            </a:avLst>
          </a:prstGeom>
          <a:solidFill>
            <a:srgbClr val="161B22"/>
          </a:solidFill>
          <a:ln w="12700">
            <a:solidFill>
              <a:srgbClr val="FF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833872"/>
            <a:ext cx="10698480" cy="365760"/>
          </a:xfrm>
          <a:prstGeom prst="rect">
            <a:avLst/>
          </a:prstGeom>
          <a:noFill/>
        </p:spPr>
        <p:txBody>
          <a:bodyPr wrap="square" anchor="t"/>
          <a:lstStyle/>
          <a:p>
            <a:pPr algn="ctr">
              <a:lnSpc>
                <a:spcPct val="100000"/>
              </a:lnSpc>
              <a:spcBef>
                <a:spcPts val="0"/>
              </a:spcBef>
              <a:spcAft>
                <a:spcPts val="600"/>
              </a:spcAft>
            </a:pPr>
            <a:r>
              <a:rPr sz="1250" b="0">
                <a:solidFill>
                  <a:srgbClr val="ECEFF1"/>
                </a:solidFill>
                <a:latin typeface="Calibri"/>
              </a:rPr>
              <a:t>Same idea as our shadows — a fast stand-in for the all-around lighting path tracing computes properly, but too slowly for real time.</a:t>
            </a:r>
          </a:p>
        </p:txBody>
      </p:sp>
      <p:sp>
        <p:nvSpPr>
          <p:cNvPr id="25" name="TextBox 24"/>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Inverse Kinematics — The Inverse Problem</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Position → joint angles (FK run backwards)</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Forward vs. Inverse</a:t>
            </a:r>
          </a:p>
        </p:txBody>
      </p:sp>
      <p:sp>
        <p:nvSpPr>
          <p:cNvPr id="10" name="TextBox 9"/>
          <p:cNvSpPr txBox="1"/>
          <p:nvPr/>
        </p:nvSpPr>
        <p:spPr>
          <a:xfrm>
            <a:off x="777240" y="1874520"/>
            <a:ext cx="4846320" cy="2103120"/>
          </a:xfrm>
          <a:prstGeom prst="rect">
            <a:avLst/>
          </a:prstGeom>
          <a:noFill/>
        </p:spPr>
        <p:txBody>
          <a:bodyPr wrap="square" anchor="t"/>
          <a:lstStyle/>
          <a:p>
            <a:pPr algn="l">
              <a:lnSpc>
                <a:spcPct val="104000"/>
              </a:lnSpc>
              <a:spcBef>
                <a:spcPts val="0"/>
              </a:spcBef>
              <a:spcAft>
                <a:spcPts val="1000"/>
              </a:spcAft>
            </a:pPr>
            <a:r>
              <a:rPr sz="1350" b="1">
                <a:solidFill>
                  <a:srgbClr val="2EE68A"/>
                </a:solidFill>
                <a:latin typeface="Calibri"/>
              </a:rPr>
              <a:t>•  </a:t>
            </a:r>
            <a:r>
              <a:rPr sz="1350" b="0">
                <a:solidFill>
                  <a:srgbClr val="ECEFF1"/>
                </a:solidFill>
                <a:latin typeface="Calibri"/>
              </a:rPr>
              <a:t>Forward (FK): joint angles → end position. This is the existing animation pipeline.</a:t>
            </a:r>
          </a:p>
          <a:p>
            <a:pPr algn="l">
              <a:lnSpc>
                <a:spcPct val="104000"/>
              </a:lnSpc>
              <a:spcBef>
                <a:spcPts val="0"/>
              </a:spcBef>
              <a:spcAft>
                <a:spcPts val="1000"/>
              </a:spcAft>
            </a:pPr>
            <a:r>
              <a:rPr sz="1350" b="1">
                <a:solidFill>
                  <a:srgbClr val="2EE68A"/>
                </a:solidFill>
                <a:latin typeface="Calibri"/>
              </a:rPr>
              <a:t>•  </a:t>
            </a:r>
            <a:r>
              <a:rPr sz="1350" b="0">
                <a:solidFill>
                  <a:srgbClr val="2EE68A"/>
                </a:solidFill>
                <a:latin typeface="Calibri"/>
              </a:rPr>
              <a:t>Inverse (IK): you give a target position; the solver finds the joint angles that reach it.</a:t>
            </a:r>
          </a:p>
        </p:txBody>
      </p:sp>
      <p:sp>
        <p:nvSpPr>
          <p:cNvPr id="11" name="Rounded Rectangle 10"/>
          <p:cNvSpPr/>
          <p:nvPr/>
        </p:nvSpPr>
        <p:spPr>
          <a:xfrm>
            <a:off x="777240" y="3566160"/>
            <a:ext cx="4800600" cy="1371600"/>
          </a:xfrm>
          <a:prstGeom prst="roundRect">
            <a:avLst>
              <a:gd name="adj" fmla="val 6000"/>
            </a:avLst>
          </a:prstGeom>
          <a:solidFill>
            <a:srgbClr val="0D1117"/>
          </a:solidFill>
          <a:ln w="6350">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685032"/>
            <a:ext cx="4480560" cy="1143000"/>
          </a:xfrm>
          <a:prstGeom prst="rect">
            <a:avLst/>
          </a:prstGeom>
          <a:noFill/>
        </p:spPr>
        <p:txBody>
          <a:bodyPr wrap="square" anchor="t"/>
          <a:lstStyle/>
          <a:p>
            <a:pPr algn="l">
              <a:lnSpc>
                <a:spcPct val="105000"/>
              </a:lnSpc>
              <a:spcBef>
                <a:spcPts val="0"/>
              </a:spcBef>
              <a:spcAft>
                <a:spcPts val="200"/>
              </a:spcAft>
            </a:pPr>
            <a:r>
              <a:rPr sz="1150" b="0">
                <a:solidFill>
                  <a:srgbClr val="C8D3DE"/>
                </a:solidFill>
                <a:latin typeface="Consolas"/>
              </a:rPr>
              <a:t>FK:  angles  ──►  position</a:t>
            </a:r>
          </a:p>
          <a:p>
            <a:pPr algn="l">
              <a:lnSpc>
                <a:spcPct val="105000"/>
              </a:lnSpc>
              <a:spcBef>
                <a:spcPts val="0"/>
              </a:spcBef>
              <a:spcAft>
                <a:spcPts val="200"/>
              </a:spcAft>
            </a:pPr>
            <a:r>
              <a:rPr sz="1150" b="0">
                <a:solidFill>
                  <a:srgbClr val="C8D3DE"/>
                </a:solidFill>
                <a:latin typeface="Consolas"/>
              </a:rPr>
              <a:t>IK:  position ──►  angles</a:t>
            </a:r>
          </a:p>
          <a:p>
            <a:pPr algn="l">
              <a:lnSpc>
                <a:spcPct val="105000"/>
              </a:lnSpc>
              <a:spcBef>
                <a:spcPts val="0"/>
              </a:spcBef>
              <a:spcAft>
                <a:spcPts val="200"/>
              </a:spcAft>
            </a:pPr>
            <a:r>
              <a:rPr sz="1150" b="0">
                <a:solidFill>
                  <a:srgbClr val="C8D3DE"/>
                </a:solidFill>
                <a:latin typeface="Consolas"/>
              </a:rPr>
              <a:t/>
            </a:r>
          </a:p>
          <a:p>
            <a:pPr algn="l">
              <a:lnSpc>
                <a:spcPct val="105000"/>
              </a:lnSpc>
              <a:spcBef>
                <a:spcPts val="0"/>
              </a:spcBef>
              <a:spcAft>
                <a:spcPts val="200"/>
              </a:spcAft>
            </a:pPr>
            <a:r>
              <a:rPr sz="1150" b="0">
                <a:solidFill>
                  <a:srgbClr val="C8D3DE"/>
                </a:solidFill>
                <a:latin typeface="Consolas"/>
              </a:rPr>
              <a:t>Chain:  root → mid → end</a:t>
            </a:r>
          </a:p>
        </p:txBody>
      </p:sp>
      <p:sp>
        <p:nvSpPr>
          <p:cNvPr id="13" name="TextBox 12"/>
          <p:cNvSpPr txBox="1"/>
          <p:nvPr/>
        </p:nvSpPr>
        <p:spPr>
          <a:xfrm>
            <a:off x="777240" y="5120640"/>
            <a:ext cx="4800600" cy="731520"/>
          </a:xfrm>
          <a:prstGeom prst="rect">
            <a:avLst/>
          </a:prstGeom>
          <a:noFill/>
        </p:spPr>
        <p:txBody>
          <a:bodyPr wrap="square" anchor="t"/>
          <a:lstStyle/>
          <a:p>
            <a:pPr algn="l">
              <a:lnSpc>
                <a:spcPct val="110000"/>
              </a:lnSpc>
              <a:spcBef>
                <a:spcPts val="0"/>
              </a:spcBef>
              <a:spcAft>
                <a:spcPts val="600"/>
              </a:spcAft>
            </a:pPr>
            <a:r>
              <a:rPr sz="1200" b="0">
                <a:solidFill>
                  <a:srgbClr val="76828E"/>
                </a:solidFill>
                <a:latin typeface="Calibri"/>
              </a:rPr>
              <a:t>Two-bone analytic IK — closed-form, no iteration, runs every frame.</a:t>
            </a:r>
          </a:p>
        </p:txBody>
      </p:sp>
      <p:sp>
        <p:nvSpPr>
          <p:cNvPr id="14" name="Rounded Rectangle 13"/>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55080" y="1234440"/>
            <a:ext cx="64008" cy="4892040"/>
          </a:xfrm>
          <a:prstGeom prst="roundRect">
            <a:avLst>
              <a:gd name="adj" fmla="val 50000"/>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FF7A3C"/>
                </a:solidFill>
                <a:latin typeface="Calibri"/>
              </a:rPr>
              <a:t>How It Solves (Law of Cosines)</a:t>
            </a:r>
          </a:p>
        </p:txBody>
      </p:sp>
      <p:sp>
        <p:nvSpPr>
          <p:cNvPr id="17" name="TextBox 16"/>
          <p:cNvSpPr txBox="1"/>
          <p:nvPr/>
        </p:nvSpPr>
        <p:spPr>
          <a:xfrm>
            <a:off x="6629400" y="1874520"/>
            <a:ext cx="4846320" cy="3108960"/>
          </a:xfrm>
          <a:prstGeom prst="rect">
            <a:avLst/>
          </a:prstGeom>
          <a:noFill/>
        </p:spPr>
        <p:txBody>
          <a:bodyPr wrap="square" anchor="t"/>
          <a:lstStyle/>
          <a:p>
            <a:pPr algn="l">
              <a:lnSpc>
                <a:spcPct val="104000"/>
              </a:lnSpc>
              <a:spcBef>
                <a:spcPts val="0"/>
              </a:spcBef>
              <a:spcAft>
                <a:spcPts val="900"/>
              </a:spcAft>
            </a:pPr>
            <a:r>
              <a:rPr sz="1350" b="1">
                <a:solidFill>
                  <a:srgbClr val="FF7A3C"/>
                </a:solidFill>
                <a:latin typeface="Calibri"/>
              </a:rPr>
              <a:t>•  </a:t>
            </a:r>
            <a:r>
              <a:rPr sz="1350" b="0">
                <a:solidFill>
                  <a:srgbClr val="ECEFF1"/>
                </a:solidFill>
                <a:latin typeface="Calibri"/>
              </a:rPr>
              <a:t>Three joints: root (hip/shoulder), mid (knee/elbow), end (foot/hand)</a:t>
            </a:r>
          </a:p>
          <a:p>
            <a:pPr algn="l">
              <a:lnSpc>
                <a:spcPct val="104000"/>
              </a:lnSpc>
              <a:spcBef>
                <a:spcPts val="0"/>
              </a:spcBef>
              <a:spcAft>
                <a:spcPts val="900"/>
              </a:spcAft>
            </a:pPr>
            <a:r>
              <a:rPr sz="1350" b="1">
                <a:solidFill>
                  <a:srgbClr val="FF7A3C"/>
                </a:solidFill>
                <a:latin typeface="Calibri"/>
              </a:rPr>
              <a:t>•  </a:t>
            </a:r>
            <a:r>
              <a:rPr sz="1350" b="0">
                <a:solidFill>
                  <a:srgbClr val="ECEFF1"/>
                </a:solidFill>
                <a:latin typeface="Calibri"/>
              </a:rPr>
              <a:t>Bone lengths are fixed; only the distance to the target changes</a:t>
            </a:r>
          </a:p>
          <a:p>
            <a:pPr algn="l">
              <a:lnSpc>
                <a:spcPct val="104000"/>
              </a:lnSpc>
              <a:spcBef>
                <a:spcPts val="0"/>
              </a:spcBef>
              <a:spcAft>
                <a:spcPts val="900"/>
              </a:spcAft>
            </a:pPr>
            <a:r>
              <a:rPr sz="1350" b="1">
                <a:solidFill>
                  <a:srgbClr val="FF7A3C"/>
                </a:solidFill>
                <a:latin typeface="Calibri"/>
              </a:rPr>
              <a:t>•  </a:t>
            </a:r>
            <a:r>
              <a:rPr sz="1350" b="0">
                <a:solidFill>
                  <a:srgbClr val="ECEFF1"/>
                </a:solidFill>
                <a:latin typeface="Calibri"/>
              </a:rPr>
              <a:t>Law of cosines gives the interior angle at the root and the mid joint</a:t>
            </a:r>
          </a:p>
          <a:p>
            <a:pPr algn="l">
              <a:lnSpc>
                <a:spcPct val="104000"/>
              </a:lnSpc>
              <a:spcBef>
                <a:spcPts val="0"/>
              </a:spcBef>
              <a:spcAft>
                <a:spcPts val="900"/>
              </a:spcAft>
            </a:pPr>
            <a:r>
              <a:rPr sz="1350" b="1">
                <a:solidFill>
                  <a:srgbClr val="FF7A3C"/>
                </a:solidFill>
                <a:latin typeface="Calibri"/>
              </a:rPr>
              <a:t>•  </a:t>
            </a:r>
            <a:r>
              <a:rPr sz="1350" b="0">
                <a:solidFill>
                  <a:srgbClr val="ECEFF1"/>
                </a:solidFill>
                <a:latin typeface="Calibri"/>
              </a:rPr>
              <a:t>An 'aim' rotation then points the whole chain at the target</a:t>
            </a:r>
          </a:p>
          <a:p>
            <a:pPr algn="l">
              <a:lnSpc>
                <a:spcPct val="104000"/>
              </a:lnSpc>
              <a:spcBef>
                <a:spcPts val="0"/>
              </a:spcBef>
              <a:spcAft>
                <a:spcPts val="900"/>
              </a:spcAft>
            </a:pPr>
            <a:r>
              <a:rPr sz="1350" b="1">
                <a:solidFill>
                  <a:srgbClr val="FF7A3C"/>
                </a:solidFill>
                <a:latin typeface="Calibri"/>
              </a:rPr>
              <a:t>•  </a:t>
            </a:r>
            <a:r>
              <a:rPr sz="1350" b="0">
                <a:solidFill>
                  <a:srgbClr val="ECEFF1"/>
                </a:solidFill>
                <a:latin typeface="Calibri"/>
              </a:rPr>
              <a:t>Target beyond reach ⇒ the limb straightens (clamped)</a:t>
            </a:r>
          </a:p>
        </p:txBody>
      </p:sp>
      <p:sp>
        <p:nvSpPr>
          <p:cNvPr id="18" name="TextBox 17"/>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Inverse Kinematics — Integration</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Where IK hooks into the per-frame pose pipeline</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Inserted After FK, Before Skinning</a:t>
            </a:r>
          </a:p>
        </p:txBody>
      </p:sp>
      <p:sp>
        <p:nvSpPr>
          <p:cNvPr id="10" name="Rounded Rectangle 9"/>
          <p:cNvSpPr/>
          <p:nvPr/>
        </p:nvSpPr>
        <p:spPr>
          <a:xfrm>
            <a:off x="777240" y="1874520"/>
            <a:ext cx="4800600" cy="2103120"/>
          </a:xfrm>
          <a:prstGeom prst="roundRect">
            <a:avLst>
              <a:gd name="adj" fmla="val 6000"/>
            </a:avLst>
          </a:prstGeom>
          <a:solidFill>
            <a:srgbClr val="0D1117"/>
          </a:solidFill>
          <a:ln w="6350">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93392"/>
            <a:ext cx="4480560" cy="1874520"/>
          </a:xfrm>
          <a:prstGeom prst="rect">
            <a:avLst/>
          </a:prstGeom>
          <a:noFill/>
        </p:spPr>
        <p:txBody>
          <a:bodyPr wrap="square" anchor="t"/>
          <a:lstStyle/>
          <a:p>
            <a:pPr algn="l">
              <a:lnSpc>
                <a:spcPct val="105000"/>
              </a:lnSpc>
              <a:spcBef>
                <a:spcPts val="0"/>
              </a:spcBef>
              <a:spcAft>
                <a:spcPts val="200"/>
              </a:spcAft>
            </a:pPr>
            <a:r>
              <a:rPr sz="1150" b="0">
                <a:solidFill>
                  <a:srgbClr val="C8D3DE"/>
                </a:solidFill>
                <a:latin typeface="Consolas"/>
              </a:rPr>
              <a:t>computeLocal();   // sample clips</a:t>
            </a:r>
          </a:p>
          <a:p>
            <a:pPr algn="l">
              <a:lnSpc>
                <a:spcPct val="105000"/>
              </a:lnSpc>
              <a:spcBef>
                <a:spcPts val="0"/>
              </a:spcBef>
              <a:spcAft>
                <a:spcPts val="200"/>
              </a:spcAft>
            </a:pPr>
            <a:r>
              <a:rPr sz="1150" b="0">
                <a:solidFill>
                  <a:srgbClr val="C8D3DE"/>
                </a:solidFill>
                <a:latin typeface="Consolas"/>
              </a:rPr>
              <a:t>computeGlobal();  // FK pass</a:t>
            </a:r>
          </a:p>
          <a:p>
            <a:pPr algn="l">
              <a:lnSpc>
                <a:spcPct val="105000"/>
              </a:lnSpc>
              <a:spcBef>
                <a:spcPts val="0"/>
              </a:spcBef>
              <a:spcAft>
                <a:spcPts val="200"/>
              </a:spcAft>
            </a:pPr>
            <a:r>
              <a:rPr sz="1150" b="0">
                <a:solidFill>
                  <a:srgbClr val="C8D3DE"/>
                </a:solidFill>
                <a:latin typeface="Consolas"/>
              </a:rPr>
              <a:t/>
            </a:r>
          </a:p>
          <a:p>
            <a:pPr algn="l">
              <a:lnSpc>
                <a:spcPct val="105000"/>
              </a:lnSpc>
              <a:spcBef>
                <a:spcPts val="0"/>
              </a:spcBef>
              <a:spcAft>
                <a:spcPts val="200"/>
              </a:spcAft>
            </a:pPr>
            <a:r>
              <a:rPr sz="1150" b="0">
                <a:solidFill>
                  <a:srgbClr val="C8D3DE"/>
                </a:solidFill>
                <a:latin typeface="Consolas"/>
              </a:rPr>
              <a:t>if (ikEnabled)</a:t>
            </a:r>
          </a:p>
          <a:p>
            <a:pPr algn="l">
              <a:lnSpc>
                <a:spcPct val="105000"/>
              </a:lnSpc>
              <a:spcBef>
                <a:spcPts val="0"/>
              </a:spcBef>
              <a:spcAft>
                <a:spcPts val="200"/>
              </a:spcAft>
            </a:pPr>
            <a:r>
              <a:rPr sz="1150" b="0">
                <a:solidFill>
                  <a:srgbClr val="C8D3DE"/>
                </a:solidFill>
                <a:latin typeface="Consolas"/>
              </a:rPr>
              <a:t>  solveTwoBoneIK();</a:t>
            </a:r>
          </a:p>
          <a:p>
            <a:pPr algn="l">
              <a:lnSpc>
                <a:spcPct val="105000"/>
              </a:lnSpc>
              <a:spcBef>
                <a:spcPts val="0"/>
              </a:spcBef>
              <a:spcAft>
                <a:spcPts val="200"/>
              </a:spcAft>
            </a:pPr>
            <a:r>
              <a:rPr sz="1150" b="0">
                <a:solidFill>
                  <a:srgbClr val="C8D3DE"/>
                </a:solidFill>
                <a:latin typeface="Consolas"/>
              </a:rPr>
              <a:t>  computeGlobal();  // re-run FK</a:t>
            </a:r>
          </a:p>
          <a:p>
            <a:pPr algn="l">
              <a:lnSpc>
                <a:spcPct val="105000"/>
              </a:lnSpc>
              <a:spcBef>
                <a:spcPts val="0"/>
              </a:spcBef>
              <a:spcAft>
                <a:spcPts val="200"/>
              </a:spcAft>
            </a:pPr>
            <a:r>
              <a:rPr sz="1150" b="0">
                <a:solidFill>
                  <a:srgbClr val="C8D3DE"/>
                </a:solidFill>
                <a:latin typeface="Consolas"/>
              </a:rPr>
              <a:t/>
            </a:r>
          </a:p>
          <a:p>
            <a:pPr algn="l">
              <a:lnSpc>
                <a:spcPct val="105000"/>
              </a:lnSpc>
              <a:spcBef>
                <a:spcPts val="0"/>
              </a:spcBef>
              <a:spcAft>
                <a:spcPts val="200"/>
              </a:spcAft>
            </a:pPr>
            <a:r>
              <a:rPr sz="1150" b="0">
                <a:solidFill>
                  <a:srgbClr val="C8D3DE"/>
                </a:solidFill>
                <a:latin typeface="Consolas"/>
              </a:rPr>
              <a:t>computeSkinning();</a:t>
            </a:r>
          </a:p>
        </p:txBody>
      </p:sp>
      <p:sp>
        <p:nvSpPr>
          <p:cNvPr id="12" name="TextBox 11"/>
          <p:cNvSpPr txBox="1"/>
          <p:nvPr/>
        </p:nvSpPr>
        <p:spPr>
          <a:xfrm>
            <a:off x="777240" y="4160520"/>
            <a:ext cx="4846320" cy="1645920"/>
          </a:xfrm>
          <a:prstGeom prst="rect">
            <a:avLst/>
          </a:prstGeom>
          <a:noFill/>
        </p:spPr>
        <p:txBody>
          <a:bodyPr wrap="square" anchor="t"/>
          <a:lstStyle/>
          <a:p>
            <a:pPr algn="l">
              <a:lnSpc>
                <a:spcPct val="104000"/>
              </a:lnSpc>
              <a:spcBef>
                <a:spcPts val="0"/>
              </a:spcBef>
              <a:spcAft>
                <a:spcPts val="600"/>
              </a:spcAft>
            </a:pPr>
            <a:r>
              <a:rPr sz="1250" b="1">
                <a:solidFill>
                  <a:srgbClr val="2EE68A"/>
                </a:solidFill>
                <a:latin typeface="Calibri"/>
              </a:rPr>
              <a:t>•  </a:t>
            </a:r>
            <a:r>
              <a:rPr sz="1250" b="0">
                <a:solidFill>
                  <a:srgbClr val="ECEFF1"/>
                </a:solidFill>
                <a:latin typeface="Calibri"/>
              </a:rPr>
              <a:t>Solver edits the local rotations of root + mid joints</a:t>
            </a:r>
          </a:p>
          <a:p>
            <a:pPr algn="l">
              <a:lnSpc>
                <a:spcPct val="104000"/>
              </a:lnSpc>
              <a:spcBef>
                <a:spcPts val="0"/>
              </a:spcBef>
              <a:spcAft>
                <a:spcPts val="600"/>
              </a:spcAft>
            </a:pPr>
            <a:r>
              <a:rPr sz="1250" b="1">
                <a:solidFill>
                  <a:srgbClr val="2EE68A"/>
                </a:solidFill>
                <a:latin typeface="Calibri"/>
              </a:rPr>
              <a:t>•  </a:t>
            </a:r>
            <a:r>
              <a:rPr sz="1250" b="0">
                <a:solidFill>
                  <a:srgbClr val="ECEFF1"/>
                </a:solidFill>
                <a:latin typeface="Calibri"/>
              </a:rPr>
              <a:t>World-space correction → parent-frame local rotation</a:t>
            </a:r>
          </a:p>
          <a:p>
            <a:pPr algn="l">
              <a:lnSpc>
                <a:spcPct val="104000"/>
              </a:lnSpc>
              <a:spcBef>
                <a:spcPts val="0"/>
              </a:spcBef>
              <a:spcAft>
                <a:spcPts val="600"/>
              </a:spcAft>
            </a:pPr>
            <a:r>
              <a:rPr sz="1250" b="1">
                <a:solidFill>
                  <a:srgbClr val="2EE68A"/>
                </a:solidFill>
                <a:latin typeface="Calibri"/>
              </a:rPr>
              <a:t>•  </a:t>
            </a:r>
            <a:r>
              <a:rPr sz="1250" b="0">
                <a:solidFill>
                  <a:srgbClr val="ECEFF1"/>
                </a:solidFill>
                <a:latin typeface="Calibri"/>
              </a:rPr>
              <a:t>Re-running FK propagates to the end joint &amp; descendants</a:t>
            </a:r>
          </a:p>
        </p:txBody>
      </p:sp>
      <p:sp>
        <p:nvSpPr>
          <p:cNvPr id="13" name="Rounded Rectangle 12"/>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Interactive Demo Controls</a:t>
            </a:r>
          </a:p>
        </p:txBody>
      </p:sp>
      <p:sp>
        <p:nvSpPr>
          <p:cNvPr id="16" name="TextBox 15"/>
          <p:cNvSpPr txBox="1"/>
          <p:nvPr/>
        </p:nvSpPr>
        <p:spPr>
          <a:xfrm>
            <a:off x="6629400" y="1874520"/>
            <a:ext cx="4846320" cy="3108960"/>
          </a:xfrm>
          <a:prstGeom prst="rect">
            <a:avLst/>
          </a:prstGeom>
          <a:noFill/>
        </p:spPr>
        <p:txBody>
          <a:bodyPr wrap="square" anchor="t"/>
          <a:lstStyle/>
          <a:p>
            <a:pPr algn="l">
              <a:lnSpc>
                <a:spcPct val="104000"/>
              </a:lnSpc>
              <a:spcBef>
                <a:spcPts val="0"/>
              </a:spcBef>
              <a:spcAft>
                <a:spcPts val="900"/>
              </a:spcAft>
            </a:pPr>
            <a:r>
              <a:rPr sz="1350" b="1">
                <a:solidFill>
                  <a:srgbClr val="3FA9F5"/>
                </a:solidFill>
                <a:latin typeface="Calibri"/>
              </a:rPr>
              <a:t>•  </a:t>
            </a:r>
            <a:r>
              <a:rPr sz="1350" b="0">
                <a:solidFill>
                  <a:srgbClr val="ECEFF1"/>
                </a:solidFill>
                <a:latin typeface="Calibri"/>
              </a:rPr>
              <a:t>User-selectable end effector — pick any bone from a dropdown; root &amp; mid are derived from its parents</a:t>
            </a:r>
          </a:p>
          <a:p>
            <a:pPr algn="l">
              <a:lnSpc>
                <a:spcPct val="104000"/>
              </a:lnSpc>
              <a:spcBef>
                <a:spcPts val="0"/>
              </a:spcBef>
              <a:spcAft>
                <a:spcPts val="900"/>
              </a:spcAft>
            </a:pPr>
            <a:r>
              <a:rPr sz="1350" b="1">
                <a:solidFill>
                  <a:srgbClr val="3FA9F5"/>
                </a:solidFill>
                <a:latin typeface="Calibri"/>
              </a:rPr>
              <a:t>•  </a:t>
            </a:r>
            <a:r>
              <a:rPr sz="1350" b="0">
                <a:solidFill>
                  <a:srgbClr val="ECEFF1"/>
                </a:solidFill>
                <a:latin typeface="Calibri"/>
              </a:rPr>
              <a:t>Yellow cross marker shows the live target</a:t>
            </a:r>
          </a:p>
          <a:p>
            <a:pPr algn="l">
              <a:lnSpc>
                <a:spcPct val="104000"/>
              </a:lnSpc>
              <a:spcBef>
                <a:spcPts val="0"/>
              </a:spcBef>
              <a:spcAft>
                <a:spcPts val="900"/>
              </a:spcAft>
            </a:pPr>
            <a:r>
              <a:rPr sz="1350" b="1">
                <a:solidFill>
                  <a:srgbClr val="3FA9F5"/>
                </a:solidFill>
                <a:latin typeface="Calibri"/>
              </a:rPr>
              <a:t>•  </a:t>
            </a:r>
            <a:r>
              <a:rPr sz="1350" b="0">
                <a:solidFill>
                  <a:srgbClr val="ECEFF1"/>
                </a:solidFill>
                <a:latin typeface="Calibri"/>
              </a:rPr>
              <a:t>Drag target X/Y/Z — the knee/elbow bends to reach it</a:t>
            </a:r>
          </a:p>
          <a:p>
            <a:pPr algn="l">
              <a:lnSpc>
                <a:spcPct val="104000"/>
              </a:lnSpc>
              <a:spcBef>
                <a:spcPts val="0"/>
              </a:spcBef>
              <a:spcAft>
                <a:spcPts val="900"/>
              </a:spcAft>
            </a:pPr>
            <a:r>
              <a:rPr sz="1350" b="1">
                <a:solidFill>
                  <a:srgbClr val="3FA9F5"/>
                </a:solidFill>
                <a:latin typeface="Calibri"/>
              </a:rPr>
              <a:t>•  </a:t>
            </a:r>
            <a:r>
              <a:rPr sz="1350" b="0">
                <a:solidFill>
                  <a:srgbClr val="ECEFF1"/>
                </a:solidFill>
                <a:latin typeface="Calibri"/>
              </a:rPr>
              <a:t>Toggle with the I key or the panel checkbox</a:t>
            </a:r>
          </a:p>
          <a:p>
            <a:pPr algn="l">
              <a:lnSpc>
                <a:spcPct val="104000"/>
              </a:lnSpc>
              <a:spcBef>
                <a:spcPts val="0"/>
              </a:spcBef>
              <a:spcAft>
                <a:spcPts val="900"/>
              </a:spcAft>
            </a:pPr>
            <a:r>
              <a:rPr sz="1350" b="1">
                <a:solidFill>
                  <a:srgbClr val="3FA9F5"/>
                </a:solidFill>
                <a:latin typeface="Calibri"/>
              </a:rPr>
              <a:t>•  </a:t>
            </a:r>
            <a:r>
              <a:rPr sz="1350" b="0">
                <a:solidFill>
                  <a:srgbClr val="2EE68A"/>
                </a:solidFill>
                <a:latin typeface="Calibri"/>
              </a:rPr>
              <a:t>Composes on top of the playing animation — the body keeps walking while the limb tracks</a:t>
            </a:r>
          </a:p>
        </p:txBody>
      </p:sp>
      <p:sp>
        <p:nvSpPr>
          <p:cNvPr id="17" name="TextBox 16"/>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Animation State Machine</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Keyboard-triggered Walk ⇄ Run · real-clip crossfade</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States &amp; Transitions</a:t>
            </a:r>
          </a:p>
        </p:txBody>
      </p:sp>
      <p:sp>
        <p:nvSpPr>
          <p:cNvPr id="10" name="TextBox 9"/>
          <p:cNvSpPr txBox="1"/>
          <p:nvPr/>
        </p:nvSpPr>
        <p:spPr>
          <a:xfrm>
            <a:off x="777240" y="1874520"/>
            <a:ext cx="4846320" cy="2011680"/>
          </a:xfrm>
          <a:prstGeom prst="rect">
            <a:avLst/>
          </a:prstGeom>
          <a:noFill/>
        </p:spPr>
        <p:txBody>
          <a:bodyPr wrap="square" anchor="t"/>
          <a:lstStyle/>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Keys 1 / 2 (or panel buttons) request Walk / Run</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Each request maps to a real clip and starts a 0.3 s crossfade</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Reuses the mid-demo TRS-level SLERP blend — no pops or shearing</a:t>
            </a:r>
          </a:p>
        </p:txBody>
      </p:sp>
      <p:sp>
        <p:nvSpPr>
          <p:cNvPr id="11" name="Rounded Rectangle 10"/>
          <p:cNvSpPr/>
          <p:nvPr/>
        </p:nvSpPr>
        <p:spPr>
          <a:xfrm>
            <a:off x="777240" y="3749040"/>
            <a:ext cx="4800600" cy="1463040"/>
          </a:xfrm>
          <a:prstGeom prst="roundRect">
            <a:avLst>
              <a:gd name="adj" fmla="val 6000"/>
            </a:avLst>
          </a:prstGeom>
          <a:solidFill>
            <a:srgbClr val="0D1117"/>
          </a:solidFill>
          <a:ln w="6350">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867912"/>
            <a:ext cx="4480560" cy="1234440"/>
          </a:xfrm>
          <a:prstGeom prst="rect">
            <a:avLst/>
          </a:prstGeom>
          <a:noFill/>
        </p:spPr>
        <p:txBody>
          <a:bodyPr wrap="square" anchor="t"/>
          <a:lstStyle/>
          <a:p>
            <a:pPr algn="l">
              <a:lnSpc>
                <a:spcPct val="105000"/>
              </a:lnSpc>
              <a:spcBef>
                <a:spcPts val="0"/>
              </a:spcBef>
              <a:spcAft>
                <a:spcPts val="200"/>
              </a:spcAft>
            </a:pPr>
            <a:r>
              <a:rPr sz="1150" b="0">
                <a:solidFill>
                  <a:srgbClr val="C8D3DE"/>
                </a:solidFill>
                <a:latin typeface="Consolas"/>
              </a:rPr>
              <a:t>void request(State s) {</a:t>
            </a:r>
          </a:p>
          <a:p>
            <a:pPr algn="l">
              <a:lnSpc>
                <a:spcPct val="105000"/>
              </a:lnSpc>
              <a:spcBef>
                <a:spcPts val="0"/>
              </a:spcBef>
              <a:spcAft>
                <a:spcPts val="200"/>
              </a:spcAft>
            </a:pPr>
            <a:r>
              <a:rPr sz="1150" b="0">
                <a:solidFill>
                  <a:srgbClr val="C8D3DE"/>
                </a:solidFill>
                <a:latin typeface="Consolas"/>
              </a:rPr>
              <a:t>  int clip = (s==Run)?run:walk;</a:t>
            </a:r>
          </a:p>
          <a:p>
            <a:pPr algn="l">
              <a:lnSpc>
                <a:spcPct val="105000"/>
              </a:lnSpc>
              <a:spcBef>
                <a:spcPts val="0"/>
              </a:spcBef>
              <a:spcAft>
                <a:spcPts val="200"/>
              </a:spcAft>
            </a:pPr>
            <a:r>
              <a:rPr sz="1150" b="0">
                <a:solidFill>
                  <a:srgbClr val="C8D3DE"/>
                </a:solidFill>
                <a:latin typeface="Consolas"/>
              </a:rPr>
              <a:t>  a.blendTo(clip, 0.3f);</a:t>
            </a:r>
          </a:p>
          <a:p>
            <a:pPr algn="l">
              <a:lnSpc>
                <a:spcPct val="105000"/>
              </a:lnSpc>
              <a:spcBef>
                <a:spcPts val="0"/>
              </a:spcBef>
              <a:spcAft>
                <a:spcPts val="200"/>
              </a:spcAft>
            </a:pPr>
            <a:r>
              <a:rPr sz="1150" b="0">
                <a:solidFill>
                  <a:srgbClr val="C8D3DE"/>
                </a:solidFill>
                <a:latin typeface="Consolas"/>
              </a:rPr>
              <a:t>}</a:t>
            </a:r>
          </a:p>
        </p:txBody>
      </p:sp>
      <p:sp>
        <p:nvSpPr>
          <p:cNvPr id="13" name="TextBox 12"/>
          <p:cNvSpPr txBox="1"/>
          <p:nvPr/>
        </p:nvSpPr>
        <p:spPr>
          <a:xfrm>
            <a:off x="777240" y="5349240"/>
            <a:ext cx="4800600" cy="548640"/>
          </a:xfrm>
          <a:prstGeom prst="rect">
            <a:avLst/>
          </a:prstGeom>
          <a:noFill/>
        </p:spPr>
        <p:txBody>
          <a:bodyPr wrap="square" anchor="t"/>
          <a:lstStyle/>
          <a:p>
            <a:pPr algn="l">
              <a:lnSpc>
                <a:spcPct val="110000"/>
              </a:lnSpc>
              <a:spcBef>
                <a:spcPts val="0"/>
              </a:spcBef>
              <a:spcAft>
                <a:spcPts val="600"/>
              </a:spcAft>
            </a:pPr>
            <a:r>
              <a:rPr sz="1200" b="0">
                <a:solidFill>
                  <a:srgbClr val="76828E"/>
                </a:solidFill>
                <a:latin typeface="Calibri"/>
              </a:rPr>
              <a:t>Single-clip models (CesiumMan / RiggedFigure) fall back to speed-scaling: Run = 2.2× Walk.</a:t>
            </a:r>
          </a:p>
        </p:txBody>
      </p:sp>
      <p:sp>
        <p:nvSpPr>
          <p:cNvPr id="14" name="Rounded Rectangle 13"/>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New Model: Khronos Fox</a:t>
            </a:r>
          </a:p>
        </p:txBody>
      </p:sp>
      <p:sp>
        <p:nvSpPr>
          <p:cNvPr id="17" name="TextBox 16"/>
          <p:cNvSpPr txBox="1"/>
          <p:nvPr/>
        </p:nvSpPr>
        <p:spPr>
          <a:xfrm>
            <a:off x="6629400" y="1874520"/>
            <a:ext cx="4846320" cy="2194560"/>
          </a:xfrm>
          <a:prstGeom prst="rect">
            <a:avLst/>
          </a:prstGeom>
          <a:noFill/>
        </p:spPr>
        <p:txBody>
          <a:bodyPr wrap="square" anchor="t"/>
          <a:lstStyle/>
          <a:p>
            <a:pPr algn="l">
              <a:lnSpc>
                <a:spcPct val="104000"/>
              </a:lnSpc>
              <a:spcBef>
                <a:spcPts val="0"/>
              </a:spcBef>
              <a:spcAft>
                <a:spcPts val="900"/>
              </a:spcAft>
            </a:pPr>
            <a:r>
              <a:rPr sz="1350" b="1">
                <a:solidFill>
                  <a:srgbClr val="3FA9F5"/>
                </a:solidFill>
                <a:latin typeface="Calibri"/>
              </a:rPr>
              <a:t>•  </a:t>
            </a:r>
            <a:r>
              <a:rPr sz="1350" b="0">
                <a:solidFill>
                  <a:srgbClr val="ECEFF1"/>
                </a:solidFill>
                <a:latin typeface="Calibri"/>
              </a:rPr>
              <a:t>24 bones · 3 real clips: Survey / Walk / Run (CC0)</a:t>
            </a:r>
          </a:p>
          <a:p>
            <a:pPr algn="l">
              <a:lnSpc>
                <a:spcPct val="104000"/>
              </a:lnSpc>
              <a:spcBef>
                <a:spcPts val="0"/>
              </a:spcBef>
              <a:spcAft>
                <a:spcPts val="900"/>
              </a:spcAft>
            </a:pPr>
            <a:r>
              <a:rPr sz="1350" b="1">
                <a:solidFill>
                  <a:srgbClr val="3FA9F5"/>
                </a:solidFill>
                <a:latin typeface="Calibri"/>
              </a:rPr>
              <a:t>•  </a:t>
            </a:r>
            <a:r>
              <a:rPr sz="1350" b="0">
                <a:solidFill>
                  <a:srgbClr val="ECEFF1"/>
                </a:solidFill>
                <a:latin typeface="Calibri"/>
              </a:rPr>
              <a:t>Provides genuinely distinct animations to transition between</a:t>
            </a:r>
          </a:p>
          <a:p>
            <a:pPr algn="l">
              <a:lnSpc>
                <a:spcPct val="104000"/>
              </a:lnSpc>
              <a:spcBef>
                <a:spcPts val="0"/>
              </a:spcBef>
              <a:spcAft>
                <a:spcPts val="900"/>
              </a:spcAft>
            </a:pPr>
            <a:r>
              <a:rPr sz="1350" b="1">
                <a:solidFill>
                  <a:srgbClr val="3FA9F5"/>
                </a:solidFill>
                <a:latin typeface="Calibri"/>
              </a:rPr>
              <a:t>•  </a:t>
            </a:r>
            <a:r>
              <a:rPr sz="1350" b="0">
                <a:solidFill>
                  <a:srgbClr val="2EE68A"/>
                </a:solidFill>
                <a:latin typeface="Calibri"/>
              </a:rPr>
              <a:t>Demonstrates true clip-to-clip blending, not just speed change</a:t>
            </a:r>
          </a:p>
        </p:txBody>
      </p:sp>
      <p:sp>
        <p:nvSpPr>
          <p:cNvPr id="18" name="Rounded Rectangle 17"/>
          <p:cNvSpPr/>
          <p:nvPr/>
        </p:nvSpPr>
        <p:spPr>
          <a:xfrm>
            <a:off x="6629400" y="4206240"/>
            <a:ext cx="4800600" cy="1600200"/>
          </a:xfrm>
          <a:prstGeom prst="roundRect">
            <a:avLst>
              <a:gd name="adj" fmla="val 8000"/>
            </a:avLst>
          </a:prstGeom>
          <a:solidFill>
            <a:srgbClr val="161B22"/>
          </a:solidFill>
          <a:ln w="12700">
            <a:solidFill>
              <a:srgbClr val="FF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4343400"/>
            <a:ext cx="4480560" cy="1371600"/>
          </a:xfrm>
          <a:prstGeom prst="rect">
            <a:avLst/>
          </a:prstGeom>
          <a:noFill/>
        </p:spPr>
        <p:txBody>
          <a:bodyPr wrap="square" anchor="t"/>
          <a:lstStyle/>
          <a:p>
            <a:pPr algn="l">
              <a:lnSpc>
                <a:spcPct val="108000"/>
              </a:lnSpc>
              <a:spcBef>
                <a:spcPts val="0"/>
              </a:spcBef>
              <a:spcAft>
                <a:spcPts val="600"/>
              </a:spcAft>
            </a:pPr>
            <a:r>
              <a:rPr sz="1300" b="1">
                <a:solidFill>
                  <a:srgbClr val="FF7A3C"/>
                </a:solidFill>
                <a:latin typeface="Calibri"/>
              </a:rPr>
              <a:t>Design decision — Jump dropped</a:t>
            </a:r>
          </a:p>
          <a:p>
            <a:pPr algn="l">
              <a:lnSpc>
                <a:spcPct val="108000"/>
              </a:lnSpc>
              <a:spcBef>
                <a:spcPts val="0"/>
              </a:spcBef>
              <a:spcAft>
                <a:spcPts val="600"/>
              </a:spcAft>
            </a:pPr>
            <a:r>
              <a:rPr sz="1150" b="0">
                <a:solidFill>
                  <a:srgbClr val="A8B2BD"/>
                </a:solidFill>
                <a:latin typeface="Calibri"/>
              </a:rPr>
              <a:t>No authored jump clip exists for these rigs; rigidly translating the whole model upward looked artificial, so locomotion stays Walk ⇄ Run.</a:t>
            </a:r>
          </a:p>
        </p:txBody>
      </p:sp>
      <p:sp>
        <p:nvSpPr>
          <p:cNvPr id="20" name="TextBox 19"/>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State Machine — Architecture</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A thin controller over the existing blend API</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Additive Design</a:t>
            </a:r>
          </a:p>
        </p:txBody>
      </p:sp>
      <p:sp>
        <p:nvSpPr>
          <p:cNvPr id="10" name="TextBox 9"/>
          <p:cNvSpPr txBox="1"/>
          <p:nvPr/>
        </p:nvSpPr>
        <p:spPr>
          <a:xfrm>
            <a:off x="777240" y="1874520"/>
            <a:ext cx="4846320" cy="3108960"/>
          </a:xfrm>
          <a:prstGeom prst="rect">
            <a:avLst/>
          </a:prstGeom>
          <a:noFill/>
        </p:spPr>
        <p:txBody>
          <a:bodyPr wrap="square" anchor="t"/>
          <a:lstStyle/>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New AnimStateMachine class owns the current state</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configureForModel() maps states → clip indices by clip name (case-insensitive); falls back to speed-scaling when a model has one clip</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request() drives transitions through the existing Animator::blendTo() — no change to the core pipeline</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Keyboard handler &amp; ImGui panel call request()</a:t>
            </a:r>
          </a:p>
        </p:txBody>
      </p:sp>
      <p:sp>
        <p:nvSpPr>
          <p:cNvPr id="11" name="Rounded Rectangle 10"/>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Data Flow</a:t>
            </a:r>
          </a:p>
        </p:txBody>
      </p:sp>
      <p:sp>
        <p:nvSpPr>
          <p:cNvPr id="14" name="Rounded Rectangle 13"/>
          <p:cNvSpPr/>
          <p:nvPr/>
        </p:nvSpPr>
        <p:spPr>
          <a:xfrm>
            <a:off x="6629400" y="1874520"/>
            <a:ext cx="4800600" cy="2743200"/>
          </a:xfrm>
          <a:prstGeom prst="roundRect">
            <a:avLst>
              <a:gd name="adj" fmla="val 6000"/>
            </a:avLst>
          </a:prstGeom>
          <a:solidFill>
            <a:srgbClr val="0D1117"/>
          </a:solidFill>
          <a:ln w="6350">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1993392"/>
            <a:ext cx="4480560" cy="2514600"/>
          </a:xfrm>
          <a:prstGeom prst="rect">
            <a:avLst/>
          </a:prstGeom>
          <a:noFill/>
        </p:spPr>
        <p:txBody>
          <a:bodyPr wrap="square" anchor="t"/>
          <a:lstStyle/>
          <a:p>
            <a:pPr algn="l">
              <a:lnSpc>
                <a:spcPct val="105000"/>
              </a:lnSpc>
              <a:spcBef>
                <a:spcPts val="0"/>
              </a:spcBef>
              <a:spcAft>
                <a:spcPts val="200"/>
              </a:spcAft>
            </a:pPr>
            <a:r>
              <a:rPr sz="1150" b="0">
                <a:solidFill>
                  <a:srgbClr val="C8D3DE"/>
                </a:solidFill>
                <a:latin typeface="Consolas"/>
              </a:rPr>
              <a:t>key '2'  ──►  request(Run)</a:t>
            </a:r>
          </a:p>
          <a:p>
            <a:pPr algn="l">
              <a:lnSpc>
                <a:spcPct val="105000"/>
              </a:lnSpc>
              <a:spcBef>
                <a:spcPts val="0"/>
              </a:spcBef>
              <a:spcAft>
                <a:spcPts val="200"/>
              </a:spcAft>
            </a:pPr>
            <a:r>
              <a:rPr sz="1150" b="0">
                <a:solidFill>
                  <a:srgbClr val="C8D3DE"/>
                </a:solidFill>
                <a:latin typeface="Consolas"/>
              </a:rPr>
              <a:t>                  │</a:t>
            </a:r>
          </a:p>
          <a:p>
            <a:pPr algn="l">
              <a:lnSpc>
                <a:spcPct val="105000"/>
              </a:lnSpc>
              <a:spcBef>
                <a:spcPts val="0"/>
              </a:spcBef>
              <a:spcAft>
                <a:spcPts val="200"/>
              </a:spcAft>
            </a:pPr>
            <a:r>
              <a:rPr sz="1150" b="0">
                <a:solidFill>
                  <a:srgbClr val="C8D3DE"/>
                </a:solidFill>
                <a:latin typeface="Consolas"/>
              </a:rPr>
              <a:t>                  ▼</a:t>
            </a:r>
          </a:p>
          <a:p>
            <a:pPr algn="l">
              <a:lnSpc>
                <a:spcPct val="105000"/>
              </a:lnSpc>
              <a:spcBef>
                <a:spcPts val="0"/>
              </a:spcBef>
              <a:spcAft>
                <a:spcPts val="200"/>
              </a:spcAft>
            </a:pPr>
            <a:r>
              <a:rPr sz="1150" b="0">
                <a:solidFill>
                  <a:srgbClr val="C8D3DE"/>
                </a:solidFill>
                <a:latin typeface="Consolas"/>
              </a:rPr>
              <a:t>      AnimStateMachine</a:t>
            </a:r>
          </a:p>
          <a:p>
            <a:pPr algn="l">
              <a:lnSpc>
                <a:spcPct val="105000"/>
              </a:lnSpc>
              <a:spcBef>
                <a:spcPts val="0"/>
              </a:spcBef>
              <a:spcAft>
                <a:spcPts val="200"/>
              </a:spcAft>
            </a:pPr>
            <a:r>
              <a:rPr sz="1150" b="0">
                <a:solidFill>
                  <a:srgbClr val="C8D3DE"/>
                </a:solidFill>
                <a:latin typeface="Consolas"/>
              </a:rPr>
              <a:t>        maps Run → clipIdx</a:t>
            </a:r>
          </a:p>
          <a:p>
            <a:pPr algn="l">
              <a:lnSpc>
                <a:spcPct val="105000"/>
              </a:lnSpc>
              <a:spcBef>
                <a:spcPts val="0"/>
              </a:spcBef>
              <a:spcAft>
                <a:spcPts val="200"/>
              </a:spcAft>
            </a:pPr>
            <a:r>
              <a:rPr sz="1150" b="0">
                <a:solidFill>
                  <a:srgbClr val="C8D3DE"/>
                </a:solidFill>
                <a:latin typeface="Consolas"/>
              </a:rPr>
              <a:t>                  │</a:t>
            </a:r>
          </a:p>
          <a:p>
            <a:pPr algn="l">
              <a:lnSpc>
                <a:spcPct val="105000"/>
              </a:lnSpc>
              <a:spcBef>
                <a:spcPts val="0"/>
              </a:spcBef>
              <a:spcAft>
                <a:spcPts val="200"/>
              </a:spcAft>
            </a:pPr>
            <a:r>
              <a:rPr sz="1150" b="0">
                <a:solidFill>
                  <a:srgbClr val="C8D3DE"/>
                </a:solidFill>
                <a:latin typeface="Consolas"/>
              </a:rPr>
              <a:t>                  ▼</a:t>
            </a:r>
          </a:p>
          <a:p>
            <a:pPr algn="l">
              <a:lnSpc>
                <a:spcPct val="105000"/>
              </a:lnSpc>
              <a:spcBef>
                <a:spcPts val="0"/>
              </a:spcBef>
              <a:spcAft>
                <a:spcPts val="200"/>
              </a:spcAft>
            </a:pPr>
            <a:r>
              <a:rPr sz="1150" b="0">
                <a:solidFill>
                  <a:srgbClr val="C8D3DE"/>
                </a:solidFill>
                <a:latin typeface="Consolas"/>
              </a:rPr>
              <a:t>   Animator::blendTo(clip,</a:t>
            </a:r>
          </a:p>
          <a:p>
            <a:pPr algn="l">
              <a:lnSpc>
                <a:spcPct val="105000"/>
              </a:lnSpc>
              <a:spcBef>
                <a:spcPts val="0"/>
              </a:spcBef>
              <a:spcAft>
                <a:spcPts val="200"/>
              </a:spcAft>
            </a:pPr>
            <a:r>
              <a:rPr sz="1150" b="0">
                <a:solidFill>
                  <a:srgbClr val="C8D3DE"/>
                </a:solidFill>
                <a:latin typeface="Consolas"/>
              </a:rPr>
              <a:t>                0.3s)</a:t>
            </a:r>
          </a:p>
          <a:p>
            <a:pPr algn="l">
              <a:lnSpc>
                <a:spcPct val="105000"/>
              </a:lnSpc>
              <a:spcBef>
                <a:spcPts val="0"/>
              </a:spcBef>
              <a:spcAft>
                <a:spcPts val="200"/>
              </a:spcAft>
            </a:pPr>
            <a:r>
              <a:rPr sz="1150" b="0">
                <a:solidFill>
                  <a:srgbClr val="C8D3DE"/>
                </a:solidFill>
                <a:latin typeface="Consolas"/>
              </a:rPr>
              <a:t>                  │</a:t>
            </a:r>
          </a:p>
          <a:p>
            <a:pPr algn="l">
              <a:lnSpc>
                <a:spcPct val="105000"/>
              </a:lnSpc>
              <a:spcBef>
                <a:spcPts val="0"/>
              </a:spcBef>
              <a:spcAft>
                <a:spcPts val="200"/>
              </a:spcAft>
            </a:pPr>
            <a:r>
              <a:rPr sz="1150" b="0">
                <a:solidFill>
                  <a:srgbClr val="C8D3DE"/>
                </a:solidFill>
                <a:latin typeface="Consolas"/>
              </a:rPr>
              <a:t>                  ▼</a:t>
            </a:r>
          </a:p>
          <a:p>
            <a:pPr algn="l">
              <a:lnSpc>
                <a:spcPct val="105000"/>
              </a:lnSpc>
              <a:spcBef>
                <a:spcPts val="0"/>
              </a:spcBef>
              <a:spcAft>
                <a:spcPts val="200"/>
              </a:spcAft>
            </a:pPr>
            <a:r>
              <a:rPr sz="1150" b="0">
                <a:solidFill>
                  <a:srgbClr val="C8D3DE"/>
                </a:solidFill>
                <a:latin typeface="Consolas"/>
              </a:rPr>
              <a:t>   TRS SLERP crossfade</a:t>
            </a:r>
          </a:p>
        </p:txBody>
      </p:sp>
      <p:sp>
        <p:nvSpPr>
          <p:cNvPr id="16" name="TextBox 15"/>
          <p:cNvSpPr txBox="1"/>
          <p:nvPr/>
        </p:nvSpPr>
        <p:spPr>
          <a:xfrm>
            <a:off x="6629400" y="4846320"/>
            <a:ext cx="4800600" cy="914400"/>
          </a:xfrm>
          <a:prstGeom prst="rect">
            <a:avLst/>
          </a:prstGeom>
          <a:noFill/>
        </p:spPr>
        <p:txBody>
          <a:bodyPr wrap="square" anchor="t"/>
          <a:lstStyle/>
          <a:p>
            <a:pPr algn="l">
              <a:lnSpc>
                <a:spcPct val="110000"/>
              </a:lnSpc>
              <a:spcBef>
                <a:spcPts val="0"/>
              </a:spcBef>
              <a:spcAft>
                <a:spcPts val="600"/>
              </a:spcAft>
            </a:pPr>
            <a:r>
              <a:rPr sz="1200" b="0">
                <a:solidFill>
                  <a:srgbClr val="76828E"/>
                </a:solidFill>
                <a:latin typeface="Calibri"/>
              </a:rPr>
              <a:t>The state machine is pure orchestration — all the heavy lifting is the blend system already validated in the mid-demo.</a:t>
            </a:r>
          </a:p>
        </p:txBody>
      </p:sp>
      <p:sp>
        <p:nvSpPr>
          <p:cNvPr id="17" name="TextBox 16"/>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Implementation Challenges</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New issues surfaced by the extensions</a:t>
            </a:r>
          </a:p>
        </p:txBody>
      </p:sp>
      <p:sp>
        <p:nvSpPr>
          <p:cNvPr id="7" name="Rounded Rectangle 6"/>
          <p:cNvSpPr/>
          <p:nvPr/>
        </p:nvSpPr>
        <p:spPr>
          <a:xfrm>
            <a:off x="502920" y="1188720"/>
            <a:ext cx="11201400" cy="941832"/>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188720"/>
            <a:ext cx="64008" cy="941832"/>
          </a:xfrm>
          <a:prstGeom prst="roundRect">
            <a:avLst>
              <a:gd name="adj" fmla="val 50000"/>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80160"/>
            <a:ext cx="10698480" cy="365760"/>
          </a:xfrm>
          <a:prstGeom prst="rect">
            <a:avLst/>
          </a:prstGeom>
          <a:noFill/>
        </p:spPr>
        <p:txBody>
          <a:bodyPr wrap="square" anchor="t"/>
          <a:lstStyle/>
          <a:p>
            <a:pPr algn="l">
              <a:lnSpc>
                <a:spcPct val="100000"/>
              </a:lnSpc>
              <a:spcBef>
                <a:spcPts val="0"/>
              </a:spcBef>
              <a:spcAft>
                <a:spcPts val="600"/>
              </a:spcAft>
            </a:pPr>
            <a:r>
              <a:rPr sz="1400" b="1">
                <a:solidFill>
                  <a:srgbClr val="FF7A3C"/>
                </a:solidFill>
                <a:latin typeface="Calibri"/>
              </a:rPr>
              <a:t>Fox mesh invisible — non-indexed geometry</a:t>
            </a:r>
          </a:p>
        </p:txBody>
      </p:sp>
      <p:sp>
        <p:nvSpPr>
          <p:cNvPr id="10" name="TextBox 9"/>
          <p:cNvSpPr txBox="1"/>
          <p:nvPr/>
        </p:nvSpPr>
        <p:spPr>
          <a:xfrm>
            <a:off x="777240" y="1609344"/>
            <a:ext cx="10607040" cy="457200"/>
          </a:xfrm>
          <a:prstGeom prst="rect">
            <a:avLst/>
          </a:prstGeom>
          <a:noFill/>
        </p:spPr>
        <p:txBody>
          <a:bodyPr wrap="square" anchor="t"/>
          <a:lstStyle/>
          <a:p>
            <a:pPr algn="l">
              <a:lnSpc>
                <a:spcPct val="100000"/>
              </a:lnSpc>
              <a:spcBef>
                <a:spcPts val="0"/>
              </a:spcBef>
              <a:spcAft>
                <a:spcPts val="600"/>
              </a:spcAft>
            </a:pPr>
            <a:r>
              <a:rPr sz="1200" b="0">
                <a:solidFill>
                  <a:srgbClr val="A8B2BD"/>
                </a:solidFill>
                <a:latin typeface="Calibri"/>
              </a:rPr>
              <a:t>The Fox primitive has no index buffer. Synthesised a sequential index list (0,1,2,…) so glDrawElements works.</a:t>
            </a:r>
          </a:p>
        </p:txBody>
      </p:sp>
      <p:sp>
        <p:nvSpPr>
          <p:cNvPr id="11" name="Rounded Rectangle 10"/>
          <p:cNvSpPr/>
          <p:nvPr/>
        </p:nvSpPr>
        <p:spPr>
          <a:xfrm>
            <a:off x="502920" y="2221992"/>
            <a:ext cx="11201400" cy="941832"/>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 y="2221992"/>
            <a:ext cx="64008" cy="941832"/>
          </a:xfrm>
          <a:prstGeom prst="roundRect">
            <a:avLst>
              <a:gd name="adj" fmla="val 50000"/>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313432"/>
            <a:ext cx="10698480" cy="365760"/>
          </a:xfrm>
          <a:prstGeom prst="rect">
            <a:avLst/>
          </a:prstGeom>
          <a:noFill/>
        </p:spPr>
        <p:txBody>
          <a:bodyPr wrap="square" anchor="t"/>
          <a:lstStyle/>
          <a:p>
            <a:pPr algn="l">
              <a:lnSpc>
                <a:spcPct val="100000"/>
              </a:lnSpc>
              <a:spcBef>
                <a:spcPts val="0"/>
              </a:spcBef>
              <a:spcAft>
                <a:spcPts val="600"/>
              </a:spcAft>
            </a:pPr>
            <a:r>
              <a:rPr sz="1400" b="1">
                <a:solidFill>
                  <a:srgbClr val="FF7A3C"/>
                </a:solidFill>
                <a:latin typeface="Calibri"/>
              </a:rPr>
              <a:t>Flat shading — Fox has no normals</a:t>
            </a:r>
          </a:p>
        </p:txBody>
      </p:sp>
      <p:sp>
        <p:nvSpPr>
          <p:cNvPr id="14" name="TextBox 13"/>
          <p:cNvSpPr txBox="1"/>
          <p:nvPr/>
        </p:nvSpPr>
        <p:spPr>
          <a:xfrm>
            <a:off x="777240" y="2642616"/>
            <a:ext cx="10607040" cy="457200"/>
          </a:xfrm>
          <a:prstGeom prst="rect">
            <a:avLst/>
          </a:prstGeom>
          <a:noFill/>
        </p:spPr>
        <p:txBody>
          <a:bodyPr wrap="square" anchor="t"/>
          <a:lstStyle/>
          <a:p>
            <a:pPr algn="l">
              <a:lnSpc>
                <a:spcPct val="100000"/>
              </a:lnSpc>
              <a:spcBef>
                <a:spcPts val="0"/>
              </a:spcBef>
              <a:spcAft>
                <a:spcPts val="600"/>
              </a:spcAft>
            </a:pPr>
            <a:r>
              <a:rPr sz="1200" b="0">
                <a:solidFill>
                  <a:srgbClr val="A8B2BD"/>
                </a:solidFill>
                <a:latin typeface="Calibri"/>
              </a:rPr>
              <a:t>The asset ships without a NORMAL attribute. Generated smooth per-vertex normals by accumulating face normals.</a:t>
            </a:r>
          </a:p>
        </p:txBody>
      </p:sp>
      <p:sp>
        <p:nvSpPr>
          <p:cNvPr id="15" name="Rounded Rectangle 14"/>
          <p:cNvSpPr/>
          <p:nvPr/>
        </p:nvSpPr>
        <p:spPr>
          <a:xfrm>
            <a:off x="502920" y="3255264"/>
            <a:ext cx="11201400" cy="941832"/>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 y="3255264"/>
            <a:ext cx="64008" cy="941832"/>
          </a:xfrm>
          <a:prstGeom prst="roundRect">
            <a:avLst>
              <a:gd name="adj" fmla="val 50000"/>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346704"/>
            <a:ext cx="10698480" cy="365760"/>
          </a:xfrm>
          <a:prstGeom prst="rect">
            <a:avLst/>
          </a:prstGeom>
          <a:noFill/>
        </p:spPr>
        <p:txBody>
          <a:bodyPr wrap="square" anchor="t"/>
          <a:lstStyle/>
          <a:p>
            <a:pPr algn="l">
              <a:lnSpc>
                <a:spcPct val="100000"/>
              </a:lnSpc>
              <a:spcBef>
                <a:spcPts val="0"/>
              </a:spcBef>
              <a:spcAft>
                <a:spcPts val="600"/>
              </a:spcAft>
            </a:pPr>
            <a:r>
              <a:rPr sz="1400" b="1">
                <a:solidFill>
                  <a:srgbClr val="FF7A3C"/>
                </a:solidFill>
                <a:latin typeface="Calibri"/>
              </a:rPr>
              <a:t>Mesh collapsed during Walk — sparse channels</a:t>
            </a:r>
          </a:p>
        </p:txBody>
      </p:sp>
      <p:sp>
        <p:nvSpPr>
          <p:cNvPr id="18" name="TextBox 17"/>
          <p:cNvSpPr txBox="1"/>
          <p:nvPr/>
        </p:nvSpPr>
        <p:spPr>
          <a:xfrm>
            <a:off x="777240" y="3675888"/>
            <a:ext cx="10607040" cy="457200"/>
          </a:xfrm>
          <a:prstGeom prst="rect">
            <a:avLst/>
          </a:prstGeom>
          <a:noFill/>
        </p:spPr>
        <p:txBody>
          <a:bodyPr wrap="square" anchor="t"/>
          <a:lstStyle/>
          <a:p>
            <a:pPr algn="l">
              <a:lnSpc>
                <a:spcPct val="100000"/>
              </a:lnSpc>
              <a:spcBef>
                <a:spcPts val="0"/>
              </a:spcBef>
              <a:spcAft>
                <a:spcPts val="600"/>
              </a:spcAft>
            </a:pPr>
            <a:r>
              <a:rPr sz="1200" b="0">
                <a:solidFill>
                  <a:srgbClr val="A8B2BD"/>
                </a:solidFill>
                <a:latin typeface="Calibri"/>
              </a:rPr>
              <a:t>Fox clips animate rotation only on most joints. Missing T/S tracks now fall back to the bone's BIND transform instead of zero.</a:t>
            </a:r>
          </a:p>
        </p:txBody>
      </p:sp>
      <p:sp>
        <p:nvSpPr>
          <p:cNvPr id="19" name="Rounded Rectangle 18"/>
          <p:cNvSpPr/>
          <p:nvPr/>
        </p:nvSpPr>
        <p:spPr>
          <a:xfrm>
            <a:off x="502920" y="4288536"/>
            <a:ext cx="11201400" cy="941832"/>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4288536"/>
            <a:ext cx="64008" cy="941832"/>
          </a:xfrm>
          <a:prstGeom prst="roundRect">
            <a:avLst>
              <a:gd name="adj" fmla="val 50000"/>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379976"/>
            <a:ext cx="10698480" cy="365760"/>
          </a:xfrm>
          <a:prstGeom prst="rect">
            <a:avLst/>
          </a:prstGeom>
          <a:noFill/>
        </p:spPr>
        <p:txBody>
          <a:bodyPr wrap="square" anchor="t"/>
          <a:lstStyle/>
          <a:p>
            <a:pPr algn="l">
              <a:lnSpc>
                <a:spcPct val="100000"/>
              </a:lnSpc>
              <a:spcBef>
                <a:spcPts val="0"/>
              </a:spcBef>
              <a:spcAft>
                <a:spcPts val="600"/>
              </a:spcAft>
            </a:pPr>
            <a:r>
              <a:rPr sz="1400" b="1">
                <a:solidFill>
                  <a:srgbClr val="FF7A3C"/>
                </a:solidFill>
                <a:latin typeface="Calibri"/>
              </a:rPr>
              <a:t>IBL on GL 4.1 — no compute shaders / SSBO</a:t>
            </a:r>
          </a:p>
        </p:txBody>
      </p:sp>
      <p:sp>
        <p:nvSpPr>
          <p:cNvPr id="22" name="TextBox 21"/>
          <p:cNvSpPr txBox="1"/>
          <p:nvPr/>
        </p:nvSpPr>
        <p:spPr>
          <a:xfrm>
            <a:off x="777240" y="4709160"/>
            <a:ext cx="10607040" cy="457200"/>
          </a:xfrm>
          <a:prstGeom prst="rect">
            <a:avLst/>
          </a:prstGeom>
          <a:noFill/>
        </p:spPr>
        <p:txBody>
          <a:bodyPr wrap="square" anchor="t"/>
          <a:lstStyle/>
          <a:p>
            <a:pPr algn="l">
              <a:lnSpc>
                <a:spcPct val="100000"/>
              </a:lnSpc>
              <a:spcBef>
                <a:spcPts val="0"/>
              </a:spcBef>
              <a:spcAft>
                <a:spcPts val="600"/>
              </a:spcAft>
            </a:pPr>
            <a:r>
              <a:rPr sz="1200" b="0">
                <a:solidFill>
                  <a:srgbClr val="A8B2BD"/>
                </a:solidFill>
                <a:latin typeface="Calibri"/>
              </a:rPr>
              <a:t>All environment maps baked offline via render-to-cubemap FBOs and fragment-shader importance sampling.</a:t>
            </a:r>
          </a:p>
        </p:txBody>
      </p:sp>
      <p:sp>
        <p:nvSpPr>
          <p:cNvPr id="23" name="Rounded Rectangle 22"/>
          <p:cNvSpPr/>
          <p:nvPr/>
        </p:nvSpPr>
        <p:spPr>
          <a:xfrm>
            <a:off x="502920" y="5321808"/>
            <a:ext cx="11201400" cy="941832"/>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5321808"/>
            <a:ext cx="64008" cy="941832"/>
          </a:xfrm>
          <a:prstGeom prst="roundRect">
            <a:avLst>
              <a:gd name="adj" fmla="val 50000"/>
            </a:avLst>
          </a:prstGeom>
          <a:solidFill>
            <a:srgbClr val="F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413248"/>
            <a:ext cx="10698480" cy="365760"/>
          </a:xfrm>
          <a:prstGeom prst="rect">
            <a:avLst/>
          </a:prstGeom>
          <a:noFill/>
        </p:spPr>
        <p:txBody>
          <a:bodyPr wrap="square" anchor="t"/>
          <a:lstStyle/>
          <a:p>
            <a:pPr algn="l">
              <a:lnSpc>
                <a:spcPct val="100000"/>
              </a:lnSpc>
              <a:spcBef>
                <a:spcPts val="0"/>
              </a:spcBef>
              <a:spcAft>
                <a:spcPts val="600"/>
              </a:spcAft>
            </a:pPr>
            <a:r>
              <a:rPr sz="1400" b="1">
                <a:solidFill>
                  <a:srgbClr val="FF7A3C"/>
                </a:solidFill>
                <a:latin typeface="Calibri"/>
              </a:rPr>
              <a:t>IK — world vs. local rotation</a:t>
            </a:r>
          </a:p>
        </p:txBody>
      </p:sp>
      <p:sp>
        <p:nvSpPr>
          <p:cNvPr id="26" name="TextBox 25"/>
          <p:cNvSpPr txBox="1"/>
          <p:nvPr/>
        </p:nvSpPr>
        <p:spPr>
          <a:xfrm>
            <a:off x="777240" y="5742432"/>
            <a:ext cx="10607040" cy="457200"/>
          </a:xfrm>
          <a:prstGeom prst="rect">
            <a:avLst/>
          </a:prstGeom>
          <a:noFill/>
        </p:spPr>
        <p:txBody>
          <a:bodyPr wrap="square" anchor="t"/>
          <a:lstStyle/>
          <a:p>
            <a:pPr algn="l">
              <a:lnSpc>
                <a:spcPct val="100000"/>
              </a:lnSpc>
              <a:spcBef>
                <a:spcPts val="0"/>
              </a:spcBef>
              <a:spcAft>
                <a:spcPts val="600"/>
              </a:spcAft>
            </a:pPr>
            <a:r>
              <a:rPr sz="1200" b="0">
                <a:solidFill>
                  <a:srgbClr val="A8B2BD"/>
                </a:solidFill>
                <a:latin typeface="Calibri"/>
              </a:rPr>
              <a:t>Solver computes a world-space correction; converted into the bone's parent frame before writing the local rotation.</a:t>
            </a:r>
          </a:p>
        </p:txBody>
      </p:sp>
      <p:sp>
        <p:nvSpPr>
          <p:cNvPr id="27" name="TextBox 26"/>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Live Demo Guide</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What to show · controls for the new features</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Demo Flow</a:t>
            </a:r>
          </a:p>
        </p:txBody>
      </p:sp>
      <p:sp>
        <p:nvSpPr>
          <p:cNvPr id="10" name="TextBox 9"/>
          <p:cNvSpPr txBox="1"/>
          <p:nvPr/>
        </p:nvSpPr>
        <p:spPr>
          <a:xfrm>
            <a:off x="777240" y="1874520"/>
            <a:ext cx="4846320" cy="3840480"/>
          </a:xfrm>
          <a:prstGeom prst="rect">
            <a:avLst/>
          </a:prstGeom>
          <a:noFill/>
        </p:spPr>
        <p:txBody>
          <a:bodyPr wrap="square" anchor="t"/>
          <a:lstStyle/>
          <a:p>
            <a:pPr algn="l">
              <a:lnSpc>
                <a:spcPct val="104000"/>
              </a:lnSpc>
              <a:spcBef>
                <a:spcPts val="0"/>
              </a:spcBef>
              <a:spcAft>
                <a:spcPts val="1100"/>
              </a:spcAft>
            </a:pPr>
            <a:r>
              <a:rPr sz="1300" b="1">
                <a:solidFill>
                  <a:srgbClr val="2EE68A"/>
                </a:solidFill>
                <a:latin typeface="Calibri"/>
              </a:rPr>
              <a:t>•  </a:t>
            </a:r>
            <a:r>
              <a:rPr sz="1300" b="0">
                <a:solidFill>
                  <a:srgbClr val="ECEFF1"/>
                </a:solidFill>
                <a:latin typeface="Calibri"/>
              </a:rPr>
              <a:t>Shadows — toggle ground/shadows; drag the light azimuth/elevation to swing the soft shadow</a:t>
            </a:r>
          </a:p>
          <a:p>
            <a:pPr algn="l">
              <a:lnSpc>
                <a:spcPct val="104000"/>
              </a:lnSpc>
              <a:spcBef>
                <a:spcPts val="0"/>
              </a:spcBef>
              <a:spcAft>
                <a:spcPts val="1100"/>
              </a:spcAft>
            </a:pPr>
            <a:r>
              <a:rPr sz="1300" b="1">
                <a:solidFill>
                  <a:srgbClr val="2EE68A"/>
                </a:solidFill>
                <a:latin typeface="Calibri"/>
              </a:rPr>
              <a:t>•  </a:t>
            </a:r>
            <a:r>
              <a:rPr sz="1300" b="0">
                <a:solidFill>
                  <a:srgbClr val="ECEFF1"/>
                </a:solidFill>
                <a:latin typeface="Calibri"/>
              </a:rPr>
              <a:t>PBR — open Override Material; slide Metallic→1, Roughness→0 for a chrome mirror of the sky</a:t>
            </a:r>
          </a:p>
          <a:p>
            <a:pPr algn="l">
              <a:lnSpc>
                <a:spcPct val="104000"/>
              </a:lnSpc>
              <a:spcBef>
                <a:spcPts val="0"/>
              </a:spcBef>
              <a:spcAft>
                <a:spcPts val="1100"/>
              </a:spcAft>
            </a:pPr>
            <a:r>
              <a:rPr sz="1300" b="1">
                <a:solidFill>
                  <a:srgbClr val="2EE68A"/>
                </a:solidFill>
                <a:latin typeface="Calibri"/>
              </a:rPr>
              <a:t>•  </a:t>
            </a:r>
            <a:r>
              <a:rPr sz="1300" b="0">
                <a:solidFill>
                  <a:srgbClr val="ECEFF1"/>
                </a:solidFill>
                <a:latin typeface="Calibri"/>
              </a:rPr>
              <a:t>IBL — toggle IBL Ambient &amp; Skybox to show environment lighting</a:t>
            </a:r>
          </a:p>
          <a:p>
            <a:pPr algn="l">
              <a:lnSpc>
                <a:spcPct val="104000"/>
              </a:lnSpc>
              <a:spcBef>
                <a:spcPts val="0"/>
              </a:spcBef>
              <a:spcAft>
                <a:spcPts val="1100"/>
              </a:spcAft>
            </a:pPr>
            <a:r>
              <a:rPr sz="1300" b="1">
                <a:solidFill>
                  <a:srgbClr val="2EE68A"/>
                </a:solidFill>
                <a:latin typeface="Calibri"/>
              </a:rPr>
              <a:t>•  </a:t>
            </a:r>
            <a:r>
              <a:rPr sz="1300" b="0">
                <a:solidFill>
                  <a:srgbClr val="ECEFF1"/>
                </a:solidFill>
                <a:latin typeface="Calibri"/>
              </a:rPr>
              <a:t>Switch to Fox (M) — press 2/1 to crossfade Run ⇄ Walk</a:t>
            </a:r>
          </a:p>
          <a:p>
            <a:pPr algn="l">
              <a:lnSpc>
                <a:spcPct val="104000"/>
              </a:lnSpc>
              <a:spcBef>
                <a:spcPts val="0"/>
              </a:spcBef>
              <a:spcAft>
                <a:spcPts val="1100"/>
              </a:spcAft>
            </a:pPr>
            <a:r>
              <a:rPr sz="1300" b="1">
                <a:solidFill>
                  <a:srgbClr val="2EE68A"/>
                </a:solidFill>
                <a:latin typeface="Calibri"/>
              </a:rPr>
              <a:t>•  </a:t>
            </a:r>
            <a:r>
              <a:rPr sz="1300" b="0">
                <a:solidFill>
                  <a:srgbClr val="ECEFF1"/>
                </a:solidFill>
                <a:latin typeface="Calibri"/>
              </a:rPr>
              <a:t>IK — pick a leg/arm bone, press I, drag the target marker</a:t>
            </a:r>
          </a:p>
        </p:txBody>
      </p:sp>
      <p:sp>
        <p:nvSpPr>
          <p:cNvPr id="11" name="Rounded Rectangle 10"/>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Key Bindings (new)</a:t>
            </a:r>
          </a:p>
        </p:txBody>
      </p:sp>
      <p:sp>
        <p:nvSpPr>
          <p:cNvPr id="14" name="Rounded Rectangle 13"/>
          <p:cNvSpPr/>
          <p:nvPr/>
        </p:nvSpPr>
        <p:spPr>
          <a:xfrm>
            <a:off x="6629400" y="1874520"/>
            <a:ext cx="4800600" cy="2011680"/>
          </a:xfrm>
          <a:prstGeom prst="roundRect">
            <a:avLst>
              <a:gd name="adj" fmla="val 6000"/>
            </a:avLst>
          </a:prstGeom>
          <a:solidFill>
            <a:srgbClr val="0D1117"/>
          </a:solidFill>
          <a:ln w="6350">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1993392"/>
            <a:ext cx="4480560" cy="1783080"/>
          </a:xfrm>
          <a:prstGeom prst="rect">
            <a:avLst/>
          </a:prstGeom>
          <a:noFill/>
        </p:spPr>
        <p:txBody>
          <a:bodyPr wrap="square" anchor="t"/>
          <a:lstStyle/>
          <a:p>
            <a:pPr algn="l">
              <a:lnSpc>
                <a:spcPct val="105000"/>
              </a:lnSpc>
              <a:spcBef>
                <a:spcPts val="0"/>
              </a:spcBef>
              <a:spcAft>
                <a:spcPts val="200"/>
              </a:spcAft>
            </a:pPr>
            <a:r>
              <a:rPr sz="1150" b="0">
                <a:solidFill>
                  <a:srgbClr val="C8D3DE"/>
                </a:solidFill>
                <a:latin typeface="Consolas"/>
              </a:rPr>
              <a:t>1 / 2    Walk / Run state</a:t>
            </a:r>
          </a:p>
          <a:p>
            <a:pPr algn="l">
              <a:lnSpc>
                <a:spcPct val="105000"/>
              </a:lnSpc>
              <a:spcBef>
                <a:spcPts val="0"/>
              </a:spcBef>
              <a:spcAft>
                <a:spcPts val="200"/>
              </a:spcAft>
            </a:pPr>
            <a:r>
              <a:rPr sz="1150" b="0">
                <a:solidFill>
                  <a:srgbClr val="C8D3DE"/>
                </a:solidFill>
                <a:latin typeface="Consolas"/>
              </a:rPr>
              <a:t>I        Toggle IK</a:t>
            </a:r>
          </a:p>
          <a:p>
            <a:pPr algn="l">
              <a:lnSpc>
                <a:spcPct val="105000"/>
              </a:lnSpc>
              <a:spcBef>
                <a:spcPts val="0"/>
              </a:spcBef>
              <a:spcAft>
                <a:spcPts val="200"/>
              </a:spcAft>
            </a:pPr>
            <a:r>
              <a:rPr sz="1150" b="0">
                <a:solidFill>
                  <a:srgbClr val="C8D3DE"/>
                </a:solidFill>
                <a:latin typeface="Consolas"/>
              </a:rPr>
              <a:t>M        Switch model</a:t>
            </a:r>
          </a:p>
          <a:p>
            <a:pPr algn="l">
              <a:lnSpc>
                <a:spcPct val="105000"/>
              </a:lnSpc>
              <a:spcBef>
                <a:spcPts val="0"/>
              </a:spcBef>
              <a:spcAft>
                <a:spcPts val="200"/>
              </a:spcAft>
            </a:pPr>
            <a:r>
              <a:rPr sz="1150" b="0">
                <a:solidFill>
                  <a:srgbClr val="C8D3DE"/>
                </a:solidFill>
                <a:latin typeface="Consolas"/>
              </a:rPr>
              <a:t>B        Bone overlay</a:t>
            </a:r>
          </a:p>
          <a:p>
            <a:pPr algn="l">
              <a:lnSpc>
                <a:spcPct val="105000"/>
              </a:lnSpc>
              <a:spcBef>
                <a:spcPts val="0"/>
              </a:spcBef>
              <a:spcAft>
                <a:spcPts val="200"/>
              </a:spcAft>
            </a:pPr>
            <a:r>
              <a:rPr sz="1150" b="0">
                <a:solidFill>
                  <a:srgbClr val="C8D3DE"/>
                </a:solidFill>
                <a:latin typeface="Consolas"/>
              </a:rPr>
              <a:t>LMB/RMB  Orbit / Pan</a:t>
            </a:r>
          </a:p>
          <a:p>
            <a:pPr algn="l">
              <a:lnSpc>
                <a:spcPct val="105000"/>
              </a:lnSpc>
              <a:spcBef>
                <a:spcPts val="0"/>
              </a:spcBef>
              <a:spcAft>
                <a:spcPts val="200"/>
              </a:spcAft>
            </a:pPr>
            <a:r>
              <a:rPr sz="1150" b="0">
                <a:solidFill>
                  <a:srgbClr val="C8D3DE"/>
                </a:solidFill>
                <a:latin typeface="Consolas"/>
              </a:rPr>
              <a:t>Scroll   Zoom</a:t>
            </a:r>
          </a:p>
        </p:txBody>
      </p:sp>
      <p:sp>
        <p:nvSpPr>
          <p:cNvPr id="16" name="Rounded Rectangle 15"/>
          <p:cNvSpPr/>
          <p:nvPr/>
        </p:nvSpPr>
        <p:spPr>
          <a:xfrm>
            <a:off x="6629400" y="4160520"/>
            <a:ext cx="1554480" cy="1051560"/>
          </a:xfrm>
          <a:prstGeom prst="roundRect">
            <a:avLst>
              <a:gd name="adj" fmla="val 12000"/>
            </a:avLst>
          </a:prstGeom>
          <a:solidFill>
            <a:srgbClr val="161B22"/>
          </a:solidFill>
          <a:ln w="15875">
            <a:solidFill>
              <a:srgbClr val="2E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4306824"/>
            <a:ext cx="1554480" cy="457200"/>
          </a:xfrm>
          <a:prstGeom prst="rect">
            <a:avLst/>
          </a:prstGeom>
          <a:noFill/>
        </p:spPr>
        <p:txBody>
          <a:bodyPr wrap="square" anchor="t"/>
          <a:lstStyle/>
          <a:p>
            <a:pPr algn="ctr">
              <a:lnSpc>
                <a:spcPct val="100000"/>
              </a:lnSpc>
              <a:spcBef>
                <a:spcPts val="0"/>
              </a:spcBef>
              <a:spcAft>
                <a:spcPts val="600"/>
              </a:spcAft>
            </a:pPr>
            <a:r>
              <a:rPr sz="2200" b="1">
                <a:solidFill>
                  <a:srgbClr val="2EE68A"/>
                </a:solidFill>
                <a:latin typeface="Calibri"/>
              </a:rPr>
              <a:t>60</a:t>
            </a:r>
          </a:p>
        </p:txBody>
      </p:sp>
      <p:sp>
        <p:nvSpPr>
          <p:cNvPr id="18" name="TextBox 17"/>
          <p:cNvSpPr txBox="1"/>
          <p:nvPr/>
        </p:nvSpPr>
        <p:spPr>
          <a:xfrm>
            <a:off x="6629400" y="4764024"/>
            <a:ext cx="1554480" cy="320040"/>
          </a:xfrm>
          <a:prstGeom prst="rect">
            <a:avLst/>
          </a:prstGeom>
          <a:noFill/>
        </p:spPr>
        <p:txBody>
          <a:bodyPr wrap="square" anchor="t"/>
          <a:lstStyle/>
          <a:p>
            <a:pPr algn="ctr">
              <a:lnSpc>
                <a:spcPct val="100000"/>
              </a:lnSpc>
              <a:spcBef>
                <a:spcPts val="0"/>
              </a:spcBef>
              <a:spcAft>
                <a:spcPts val="600"/>
              </a:spcAft>
            </a:pPr>
            <a:r>
              <a:rPr sz="1100" b="0">
                <a:solidFill>
                  <a:srgbClr val="76828E"/>
                </a:solidFill>
                <a:latin typeface="Calibri"/>
              </a:rPr>
              <a:t>FPS sustained</a:t>
            </a:r>
          </a:p>
        </p:txBody>
      </p:sp>
      <p:sp>
        <p:nvSpPr>
          <p:cNvPr id="19" name="Rounded Rectangle 18"/>
          <p:cNvSpPr/>
          <p:nvPr/>
        </p:nvSpPr>
        <p:spPr>
          <a:xfrm>
            <a:off x="8321040" y="4160520"/>
            <a:ext cx="1554480" cy="1051560"/>
          </a:xfrm>
          <a:prstGeom prst="roundRect">
            <a:avLst>
              <a:gd name="adj" fmla="val 12000"/>
            </a:avLst>
          </a:prstGeom>
          <a:solidFill>
            <a:srgbClr val="161B22"/>
          </a:solidFill>
          <a:ln w="15875">
            <a:solidFill>
              <a:srgbClr val="3FA9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4306824"/>
            <a:ext cx="1554480" cy="457200"/>
          </a:xfrm>
          <a:prstGeom prst="rect">
            <a:avLst/>
          </a:prstGeom>
          <a:noFill/>
        </p:spPr>
        <p:txBody>
          <a:bodyPr wrap="square" anchor="t"/>
          <a:lstStyle/>
          <a:p>
            <a:pPr algn="ctr">
              <a:lnSpc>
                <a:spcPct val="100000"/>
              </a:lnSpc>
              <a:spcBef>
                <a:spcPts val="0"/>
              </a:spcBef>
              <a:spcAft>
                <a:spcPts val="600"/>
              </a:spcAft>
            </a:pPr>
            <a:r>
              <a:rPr sz="2200" b="1">
                <a:solidFill>
                  <a:srgbClr val="3FA9F5"/>
                </a:solidFill>
                <a:latin typeface="Calibri"/>
              </a:rPr>
              <a:t>3</a:t>
            </a:r>
          </a:p>
        </p:txBody>
      </p:sp>
      <p:sp>
        <p:nvSpPr>
          <p:cNvPr id="21" name="TextBox 20"/>
          <p:cNvSpPr txBox="1"/>
          <p:nvPr/>
        </p:nvSpPr>
        <p:spPr>
          <a:xfrm>
            <a:off x="8321040" y="4764024"/>
            <a:ext cx="1554480" cy="320040"/>
          </a:xfrm>
          <a:prstGeom prst="rect">
            <a:avLst/>
          </a:prstGeom>
          <a:noFill/>
        </p:spPr>
        <p:txBody>
          <a:bodyPr wrap="square" anchor="t"/>
          <a:lstStyle/>
          <a:p>
            <a:pPr algn="ctr">
              <a:lnSpc>
                <a:spcPct val="100000"/>
              </a:lnSpc>
              <a:spcBef>
                <a:spcPts val="0"/>
              </a:spcBef>
              <a:spcAft>
                <a:spcPts val="600"/>
              </a:spcAft>
            </a:pPr>
            <a:r>
              <a:rPr sz="1100" b="0">
                <a:solidFill>
                  <a:srgbClr val="76828E"/>
                </a:solidFill>
                <a:latin typeface="Calibri"/>
              </a:rPr>
              <a:t>models</a:t>
            </a:r>
          </a:p>
        </p:txBody>
      </p:sp>
      <p:sp>
        <p:nvSpPr>
          <p:cNvPr id="22" name="Rounded Rectangle 21"/>
          <p:cNvSpPr/>
          <p:nvPr/>
        </p:nvSpPr>
        <p:spPr>
          <a:xfrm>
            <a:off x="10012680" y="4160520"/>
            <a:ext cx="1554480" cy="1051560"/>
          </a:xfrm>
          <a:prstGeom prst="roundRect">
            <a:avLst>
              <a:gd name="adj" fmla="val 12000"/>
            </a:avLst>
          </a:prstGeom>
          <a:solidFill>
            <a:srgbClr val="161B22"/>
          </a:solidFill>
          <a:ln w="15875">
            <a:solidFill>
              <a:srgbClr val="FF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12680" y="4306824"/>
            <a:ext cx="1554480" cy="457200"/>
          </a:xfrm>
          <a:prstGeom prst="rect">
            <a:avLst/>
          </a:prstGeom>
          <a:noFill/>
        </p:spPr>
        <p:txBody>
          <a:bodyPr wrap="square" anchor="t"/>
          <a:lstStyle/>
          <a:p>
            <a:pPr algn="ctr">
              <a:lnSpc>
                <a:spcPct val="100000"/>
              </a:lnSpc>
              <a:spcBef>
                <a:spcPts val="0"/>
              </a:spcBef>
              <a:spcAft>
                <a:spcPts val="600"/>
              </a:spcAft>
            </a:pPr>
            <a:r>
              <a:rPr sz="2200" b="1">
                <a:solidFill>
                  <a:srgbClr val="FF7A3C"/>
                </a:solidFill>
                <a:latin typeface="Calibri"/>
              </a:rPr>
              <a:t>4</a:t>
            </a:r>
          </a:p>
        </p:txBody>
      </p:sp>
      <p:sp>
        <p:nvSpPr>
          <p:cNvPr id="24" name="TextBox 23"/>
          <p:cNvSpPr txBox="1"/>
          <p:nvPr/>
        </p:nvSpPr>
        <p:spPr>
          <a:xfrm>
            <a:off x="10012680" y="4764024"/>
            <a:ext cx="1554480" cy="320040"/>
          </a:xfrm>
          <a:prstGeom prst="rect">
            <a:avLst/>
          </a:prstGeom>
          <a:noFill/>
        </p:spPr>
        <p:txBody>
          <a:bodyPr wrap="square" anchor="t"/>
          <a:lstStyle/>
          <a:p>
            <a:pPr algn="ctr">
              <a:lnSpc>
                <a:spcPct val="100000"/>
              </a:lnSpc>
              <a:spcBef>
                <a:spcPts val="0"/>
              </a:spcBef>
              <a:spcAft>
                <a:spcPts val="600"/>
              </a:spcAft>
            </a:pPr>
            <a:r>
              <a:rPr sz="1100" b="0">
                <a:solidFill>
                  <a:srgbClr val="76828E"/>
                </a:solidFill>
                <a:latin typeface="Calibri"/>
              </a:rPr>
              <a:t>extensions</a:t>
            </a:r>
          </a:p>
        </p:txBody>
      </p:sp>
      <p:sp>
        <p:nvSpPr>
          <p:cNvPr id="25" name="TextBox 24"/>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82296"/>
          </a:xfrm>
          <a:prstGeom prst="rect">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6095847" cy="82296"/>
          </a:xfrm>
          <a:prstGeom prst="rect">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1155680" cy="731520"/>
          </a:xfrm>
          <a:prstGeom prst="rect">
            <a:avLst/>
          </a:prstGeom>
          <a:noFill/>
        </p:spPr>
        <p:txBody>
          <a:bodyPr wrap="square" anchor="t"/>
          <a:lstStyle/>
          <a:p>
            <a:pPr algn="l">
              <a:lnSpc>
                <a:spcPct val="100000"/>
              </a:lnSpc>
              <a:spcBef>
                <a:spcPts val="0"/>
              </a:spcBef>
              <a:spcAft>
                <a:spcPts val="600"/>
              </a:spcAft>
            </a:pPr>
            <a:r>
              <a:rPr sz="3000" b="1">
                <a:solidFill>
                  <a:srgbClr val="35D37A"/>
                </a:solidFill>
                <a:latin typeface="Calibri"/>
              </a:rPr>
              <a:t>Conclusion</a:t>
            </a:r>
          </a:p>
        </p:txBody>
      </p:sp>
      <p:sp>
        <p:nvSpPr>
          <p:cNvPr id="6" name="TextBox 5"/>
          <p:cNvSpPr txBox="1"/>
          <p:nvPr/>
        </p:nvSpPr>
        <p:spPr>
          <a:xfrm>
            <a:off x="521207" y="868680"/>
            <a:ext cx="10972800" cy="365760"/>
          </a:xfrm>
          <a:prstGeom prst="rect">
            <a:avLst/>
          </a:prstGeom>
          <a:noFill/>
        </p:spPr>
        <p:txBody>
          <a:bodyPr wrap="square" anchor="t"/>
          <a:lstStyle/>
          <a:p>
            <a:pPr algn="l">
              <a:lnSpc>
                <a:spcPct val="100000"/>
              </a:lnSpc>
              <a:spcBef>
                <a:spcPts val="0"/>
              </a:spcBef>
              <a:spcAft>
                <a:spcPts val="600"/>
              </a:spcAft>
            </a:pPr>
            <a:r>
              <a:rPr sz="1250" b="0">
                <a:solidFill>
                  <a:srgbClr val="76828E"/>
                </a:solidFill>
                <a:latin typeface="Calibri"/>
              </a:rPr>
              <a:t>All four mid-demo 'future extensions' delivered</a:t>
            </a:r>
          </a:p>
        </p:txBody>
      </p:sp>
      <p:sp>
        <p:nvSpPr>
          <p:cNvPr id="7" name="Rounded Rectangle 6"/>
          <p:cNvSpPr/>
          <p:nvPr/>
        </p:nvSpPr>
        <p:spPr>
          <a:xfrm>
            <a:off x="50292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234440"/>
            <a:ext cx="64008" cy="4892040"/>
          </a:xfrm>
          <a:prstGeom prst="roundRect">
            <a:avLst>
              <a:gd name="adj" fmla="val 50000"/>
            </a:avLst>
          </a:prstGeom>
          <a:solidFill>
            <a:srgbClr val="2E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5D37A"/>
                </a:solidFill>
                <a:latin typeface="Calibri"/>
              </a:rPr>
              <a:t>Delivered</a:t>
            </a:r>
          </a:p>
        </p:txBody>
      </p:sp>
      <p:sp>
        <p:nvSpPr>
          <p:cNvPr id="10" name="TextBox 9"/>
          <p:cNvSpPr txBox="1"/>
          <p:nvPr/>
        </p:nvSpPr>
        <p:spPr>
          <a:xfrm>
            <a:off x="777240" y="1874520"/>
            <a:ext cx="4846320" cy="3657600"/>
          </a:xfrm>
          <a:prstGeom prst="rect">
            <a:avLst/>
          </a:prstGeom>
          <a:noFill/>
        </p:spPr>
        <p:txBody>
          <a:bodyPr wrap="square" anchor="t"/>
          <a:lstStyle/>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Shadow mapping — two-pass depth, PCF, slope-scaled bias</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PBR — Cook-Torrance metallic-roughness BRDF</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Image-based lighting — split-sum IBL + procedural skybox</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Inverse kinematics — interactive two-bone solver</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Animation state machine — Walk ⇄ Run real-clip crossfade</a:t>
            </a:r>
          </a:p>
          <a:p>
            <a:pPr algn="l">
              <a:lnSpc>
                <a:spcPct val="104000"/>
              </a:lnSpc>
              <a:spcBef>
                <a:spcPts val="0"/>
              </a:spcBef>
              <a:spcAft>
                <a:spcPts val="700"/>
              </a:spcAft>
            </a:pPr>
            <a:r>
              <a:rPr sz="1350" b="1">
                <a:solidFill>
                  <a:srgbClr val="2EE68A"/>
                </a:solidFill>
                <a:latin typeface="Calibri"/>
              </a:rPr>
              <a:t>•  </a:t>
            </a:r>
            <a:r>
              <a:rPr sz="1350" b="0">
                <a:solidFill>
                  <a:srgbClr val="ECEFF1"/>
                </a:solidFill>
                <a:latin typeface="Calibri"/>
              </a:rPr>
              <a:t>Added the Khronos Fox (multi-clip) reference model</a:t>
            </a:r>
          </a:p>
        </p:txBody>
      </p:sp>
      <p:sp>
        <p:nvSpPr>
          <p:cNvPr id="11" name="Rounded Rectangle 10"/>
          <p:cNvSpPr/>
          <p:nvPr/>
        </p:nvSpPr>
        <p:spPr>
          <a:xfrm>
            <a:off x="6355080" y="1234440"/>
            <a:ext cx="5349240" cy="4892040"/>
          </a:xfrm>
          <a:prstGeom prst="roundRect">
            <a:avLst>
              <a:gd name="adj" fmla="val 4000"/>
            </a:avLst>
          </a:prstGeom>
          <a:solidFill>
            <a:srgbClr val="161B22"/>
          </a:solidFill>
          <a:ln w="9525">
            <a:solidFill>
              <a:srgbClr val="2A3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5080" y="1234440"/>
            <a:ext cx="64008" cy="4892040"/>
          </a:xfrm>
          <a:prstGeom prst="roundRect">
            <a:avLst>
              <a:gd name="adj" fmla="val 50000"/>
            </a:avLst>
          </a:prstGeom>
          <a:solidFill>
            <a:srgbClr val="3FA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1362456"/>
            <a:ext cx="4983480" cy="365760"/>
          </a:xfrm>
          <a:prstGeom prst="rect">
            <a:avLst/>
          </a:prstGeom>
          <a:noFill/>
        </p:spPr>
        <p:txBody>
          <a:bodyPr wrap="square" anchor="t"/>
          <a:lstStyle/>
          <a:p>
            <a:pPr algn="l">
              <a:lnSpc>
                <a:spcPct val="100000"/>
              </a:lnSpc>
              <a:spcBef>
                <a:spcPts val="0"/>
              </a:spcBef>
              <a:spcAft>
                <a:spcPts val="600"/>
              </a:spcAft>
            </a:pPr>
            <a:r>
              <a:rPr sz="1600" b="1">
                <a:solidFill>
                  <a:srgbClr val="3FA9F5"/>
                </a:solidFill>
                <a:latin typeface="Calibri"/>
              </a:rPr>
              <a:t>Takeaways &amp; Future Work</a:t>
            </a:r>
          </a:p>
        </p:txBody>
      </p:sp>
      <p:sp>
        <p:nvSpPr>
          <p:cNvPr id="14" name="TextBox 13"/>
          <p:cNvSpPr txBox="1"/>
          <p:nvPr/>
        </p:nvSpPr>
        <p:spPr>
          <a:xfrm>
            <a:off x="6629400" y="1874520"/>
            <a:ext cx="4846320" cy="2194560"/>
          </a:xfrm>
          <a:prstGeom prst="rect">
            <a:avLst/>
          </a:prstGeom>
          <a:noFill/>
        </p:spPr>
        <p:txBody>
          <a:bodyPr wrap="square" anchor="t"/>
          <a:lstStyle/>
          <a:p>
            <a:pPr algn="l">
              <a:lnSpc>
                <a:spcPct val="104000"/>
              </a:lnSpc>
              <a:spcBef>
                <a:spcPts val="0"/>
              </a:spcBef>
              <a:spcAft>
                <a:spcPts val="1000"/>
              </a:spcAft>
            </a:pPr>
            <a:r>
              <a:rPr sz="1350" b="1">
                <a:solidFill>
                  <a:srgbClr val="3FA9F5"/>
                </a:solidFill>
                <a:latin typeface="Calibri"/>
              </a:rPr>
              <a:t>•  </a:t>
            </a:r>
            <a:r>
              <a:rPr sz="1350" b="0">
                <a:solidFill>
                  <a:srgbClr val="ECEFF1"/>
                </a:solidFill>
                <a:latin typeface="Calibri"/>
              </a:rPr>
              <a:t>Extensions build additively on the FK + skinning core — the base pipeline was the right foundation</a:t>
            </a:r>
          </a:p>
          <a:p>
            <a:pPr algn="l">
              <a:lnSpc>
                <a:spcPct val="104000"/>
              </a:lnSpc>
              <a:spcBef>
                <a:spcPts val="0"/>
              </a:spcBef>
              <a:spcAft>
                <a:spcPts val="1000"/>
              </a:spcAft>
            </a:pPr>
            <a:r>
              <a:rPr sz="1350" b="1">
                <a:solidFill>
                  <a:srgbClr val="3FA9F5"/>
                </a:solidFill>
                <a:latin typeface="Calibri"/>
              </a:rPr>
              <a:t>•  </a:t>
            </a:r>
            <a:r>
              <a:rPr sz="1350" b="0">
                <a:solidFill>
                  <a:srgbClr val="ECEFF1"/>
                </a:solidFill>
                <a:latin typeface="Calibri"/>
              </a:rPr>
              <a:t>Real-time techniques mirror offline ones (shadow map ↔ shadow ray, split-sum ↔ path-traced IBL)</a:t>
            </a:r>
          </a:p>
        </p:txBody>
      </p:sp>
      <p:sp>
        <p:nvSpPr>
          <p:cNvPr id="15" name="TextBox 14"/>
          <p:cNvSpPr txBox="1"/>
          <p:nvPr/>
        </p:nvSpPr>
        <p:spPr>
          <a:xfrm>
            <a:off x="6629400" y="3886200"/>
            <a:ext cx="4800600" cy="365760"/>
          </a:xfrm>
          <a:prstGeom prst="rect">
            <a:avLst/>
          </a:prstGeom>
          <a:noFill/>
        </p:spPr>
        <p:txBody>
          <a:bodyPr wrap="square" anchor="t"/>
          <a:lstStyle/>
          <a:p>
            <a:pPr algn="l">
              <a:lnSpc>
                <a:spcPct val="100000"/>
              </a:lnSpc>
              <a:spcBef>
                <a:spcPts val="0"/>
              </a:spcBef>
              <a:spcAft>
                <a:spcPts val="600"/>
              </a:spcAft>
            </a:pPr>
            <a:r>
              <a:rPr sz="1400" b="1">
                <a:solidFill>
                  <a:srgbClr val="2EE68A"/>
                </a:solidFill>
                <a:latin typeface="Calibri"/>
              </a:rPr>
              <a:t>Future work</a:t>
            </a:r>
          </a:p>
        </p:txBody>
      </p:sp>
      <p:sp>
        <p:nvSpPr>
          <p:cNvPr id="16" name="TextBox 15"/>
          <p:cNvSpPr txBox="1"/>
          <p:nvPr/>
        </p:nvSpPr>
        <p:spPr>
          <a:xfrm>
            <a:off x="6629400" y="4343400"/>
            <a:ext cx="4846320" cy="1463040"/>
          </a:xfrm>
          <a:prstGeom prst="rect">
            <a:avLst/>
          </a:prstGeom>
          <a:noFill/>
        </p:spPr>
        <p:txBody>
          <a:bodyPr wrap="square" anchor="t"/>
          <a:lstStyle/>
          <a:p>
            <a:pPr algn="l">
              <a:lnSpc>
                <a:spcPct val="104000"/>
              </a:lnSpc>
              <a:spcBef>
                <a:spcPts val="0"/>
              </a:spcBef>
              <a:spcAft>
                <a:spcPts val="600"/>
              </a:spcAft>
            </a:pPr>
            <a:r>
              <a:rPr sz="1250" b="1">
                <a:solidFill>
                  <a:srgbClr val="2EE68A"/>
                </a:solidFill>
                <a:latin typeface="Calibri"/>
              </a:rPr>
              <a:t>•  </a:t>
            </a:r>
            <a:r>
              <a:rPr sz="1250" b="0">
                <a:solidFill>
                  <a:srgbClr val="ECEFF1"/>
                </a:solidFill>
                <a:latin typeface="Calibri"/>
              </a:rPr>
              <a:t>CCD / FABRIK multi-bone IK chains</a:t>
            </a:r>
          </a:p>
          <a:p>
            <a:pPr algn="l">
              <a:lnSpc>
                <a:spcPct val="104000"/>
              </a:lnSpc>
              <a:spcBef>
                <a:spcPts val="0"/>
              </a:spcBef>
              <a:spcAft>
                <a:spcPts val="600"/>
              </a:spcAft>
            </a:pPr>
            <a:r>
              <a:rPr sz="1250" b="1">
                <a:solidFill>
                  <a:srgbClr val="2EE68A"/>
                </a:solidFill>
                <a:latin typeface="Calibri"/>
              </a:rPr>
              <a:t>•  </a:t>
            </a:r>
            <a:r>
              <a:rPr sz="1250" b="0">
                <a:solidFill>
                  <a:srgbClr val="ECEFF1"/>
                </a:solidFill>
                <a:latin typeface="Calibri"/>
              </a:rPr>
              <a:t>Blend trees &amp; parametric locomotion (speed-driven)</a:t>
            </a:r>
          </a:p>
          <a:p>
            <a:pPr algn="l">
              <a:lnSpc>
                <a:spcPct val="104000"/>
              </a:lnSpc>
              <a:spcBef>
                <a:spcPts val="0"/>
              </a:spcBef>
              <a:spcAft>
                <a:spcPts val="600"/>
              </a:spcAft>
            </a:pPr>
            <a:r>
              <a:rPr sz="1250" b="1">
                <a:solidFill>
                  <a:srgbClr val="2EE68A"/>
                </a:solidFill>
                <a:latin typeface="Calibri"/>
              </a:rPr>
              <a:t>•  </a:t>
            </a:r>
            <a:r>
              <a:rPr sz="1250" b="0">
                <a:solidFill>
                  <a:srgbClr val="ECEFF1"/>
                </a:solidFill>
                <a:latin typeface="Calibri"/>
              </a:rPr>
              <a:t>Cascaded shadow maps for large scenes</a:t>
            </a:r>
          </a:p>
        </p:txBody>
      </p:sp>
      <p:sp>
        <p:nvSpPr>
          <p:cNvPr id="17" name="TextBox 16"/>
          <p:cNvSpPr txBox="1"/>
          <p:nvPr/>
        </p:nvSpPr>
        <p:spPr>
          <a:xfrm>
            <a:off x="10698480" y="6419088"/>
            <a:ext cx="1280160" cy="365760"/>
          </a:xfrm>
          <a:prstGeom prst="rect">
            <a:avLst/>
          </a:prstGeom>
          <a:noFill/>
        </p:spPr>
        <p:txBody>
          <a:bodyPr wrap="square" anchor="t"/>
          <a:lstStyle/>
          <a:p>
            <a:pPr algn="r">
              <a:lnSpc>
                <a:spcPct val="100000"/>
              </a:lnSpc>
              <a:spcBef>
                <a:spcPts val="0"/>
              </a:spcBef>
              <a:spcAft>
                <a:spcPts val="600"/>
              </a:spcAft>
            </a:pPr>
            <a:r>
              <a:rPr sz="1100" b="0">
                <a:solidFill>
                  <a:srgbClr val="76828E"/>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