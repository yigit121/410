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84048" y="713232"/>
            <a:ext cx="54864" cy="2788920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713232"/>
            <a:ext cx="8046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Skeletal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 Viewer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94360" y="2651760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Graphics Course Project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94360" y="3127248"/>
            <a:ext cx="4389120" cy="0"/>
          </a:xfrm>
          <a:prstGeom prst="line">
            <a:avLst/>
          </a:prstGeom>
          <a:noFill/>
          <a:ln w="12700">
            <a:solidFill>
              <a:srgbClr val="2A2D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73552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C++17  ·  OpenGL 4.1 Core  ·  glTF 2.0  ·  macOS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36758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A  ·  Member B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0" y="491947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A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10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36576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36576"/>
          </a:xfrm>
          <a:prstGeom prst="rect">
            <a:avLst/>
          </a:prstGeom>
          <a:solidFill>
            <a:srgbClr val="40C4FF"/>
          </a:solidFill>
          <a:ln w="12700">
            <a:solidFill>
              <a:srgbClr val="40C4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023360" cy="3931920"/>
          </a:xfrm>
          <a:prstGeom prst="rect">
            <a:avLst/>
          </a:prstGeom>
          <a:solidFill>
            <a:srgbClr val="1A1C24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914400"/>
            <a:ext cx="45720" cy="3931920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987552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30352" y="1325880"/>
            <a:ext cx="3749040" cy="1783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and render glTF 2.0 skinned characters in real time</a:t>
            </a:r>
            <a:endParaRPr lang="en-US" sz="12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the full skeletal animation pipeline from scratch</a:t>
            </a:r>
            <a:endParaRPr lang="en-US" sz="12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camera, playback controls, and an ImGui debug panel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0" y="914400"/>
            <a:ext cx="4251960" cy="3931920"/>
          </a:xfrm>
          <a:prstGeom prst="rect">
            <a:avLst/>
          </a:prstGeom>
          <a:solidFill>
            <a:srgbClr val="1A1C24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0" y="914400"/>
            <a:ext cx="45720" cy="3931920"/>
          </a:xfrm>
          <a:prstGeom prst="rect">
            <a:avLst/>
          </a:prstGeom>
          <a:solidFill>
            <a:srgbClr val="40C4FF"/>
          </a:solidFill>
          <a:ln w="12700">
            <a:solidFill>
              <a:srgbClr val="40C4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09160" y="9875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Models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82312" y="1325880"/>
            <a:ext cx="3931920" cy="1783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CesiumMan — 19 bones, walking animation, albedo texture (Khronos)</a:t>
            </a:r>
            <a:endParaRPr lang="en-US" sz="12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RiggedFigure — 8 bones, simplified rig (Khronos)</a:t>
            </a:r>
            <a:endParaRPr lang="en-US" sz="12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verified against the official Khronos glTF reference viewer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30352" y="3291840"/>
            <a:ext cx="3657600" cy="0"/>
          </a:xfrm>
          <a:prstGeom prst="line">
            <a:avLst/>
          </a:prstGeom>
          <a:noFill/>
          <a:ln w="10160">
            <a:solidFill>
              <a:srgbClr val="2A2D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" y="34015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</a:t>
            </a:r>
            <a:pPr indent="0" marL="0">
              <a:buNone/>
            </a:pPr>
            <a:r>
              <a:rPr lang="en-US" sz="13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6-week development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782312" y="3291840"/>
            <a:ext cx="3840480" cy="0"/>
          </a:xfrm>
          <a:prstGeom prst="line">
            <a:avLst/>
          </a:prstGeom>
          <a:noFill/>
          <a:ln w="10160">
            <a:solidFill>
              <a:srgbClr val="2A2D3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82312" y="3401568"/>
            <a:ext cx="1737360" cy="1325880"/>
          </a:xfrm>
          <a:prstGeom prst="rect">
            <a:avLst/>
          </a:prstGeom>
          <a:solidFill>
            <a:srgbClr val="151820"/>
          </a:solidFill>
          <a:ln w="10160">
            <a:solidFill>
              <a:srgbClr val="00E67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73752" y="352044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CesiumMan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73752" y="3858768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bones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73752" y="411480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Khronos sample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748272" y="3401568"/>
            <a:ext cx="1737360" cy="1325880"/>
          </a:xfrm>
          <a:prstGeom prst="rect">
            <a:avLst/>
          </a:prstGeom>
          <a:solidFill>
            <a:srgbClr val="151820"/>
          </a:solidFill>
          <a:ln w="10160">
            <a:solidFill>
              <a:srgbClr val="40C4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39712" y="352044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RiggedFigure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39712" y="3858768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bones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839712" y="411480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Khronos sample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046720" y="491947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A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36576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36576"/>
          </a:xfrm>
          <a:prstGeom prst="rect">
            <a:avLst/>
          </a:prstGeom>
          <a:solidFill>
            <a:srgbClr val="40C4FF"/>
          </a:solidFill>
          <a:ln w="12700">
            <a:solidFill>
              <a:srgbClr val="40C4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Rendering Pipeline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320040" y="640080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Shader-Based OpenGL  ·  Graphics Pipeline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987552"/>
            <a:ext cx="1143000" cy="594360"/>
          </a:xfrm>
          <a:prstGeom prst="rect">
            <a:avLst/>
          </a:prstGeom>
          <a:solidFill>
            <a:srgbClr val="151820"/>
          </a:solidFill>
          <a:ln w="8890">
            <a:solidFill>
              <a:srgbClr val="7A7F9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987552"/>
            <a:ext cx="1143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5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5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783080" y="1124712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984248" y="987552"/>
            <a:ext cx="1143000" cy="594360"/>
          </a:xfrm>
          <a:prstGeom prst="rect">
            <a:avLst/>
          </a:prstGeom>
          <a:solidFill>
            <a:srgbClr val="151820"/>
          </a:solidFill>
          <a:ln w="15240">
            <a:solidFill>
              <a:srgbClr val="40C4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84248" y="987552"/>
            <a:ext cx="1143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mat4s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127248" y="1124712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328416" y="987552"/>
            <a:ext cx="1143000" cy="594360"/>
          </a:xfrm>
          <a:prstGeom prst="rect">
            <a:avLst/>
          </a:prstGeom>
          <a:solidFill>
            <a:srgbClr val="151820"/>
          </a:solidFill>
          <a:ln w="15240">
            <a:solidFill>
              <a:srgbClr val="00E67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28416" y="987552"/>
            <a:ext cx="1143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71416" y="1124712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672584" y="987552"/>
            <a:ext cx="1143000" cy="594360"/>
          </a:xfrm>
          <a:prstGeom prst="rect">
            <a:avLst/>
          </a:prstGeom>
          <a:solidFill>
            <a:srgbClr val="151820"/>
          </a:solidFill>
          <a:ln w="8890">
            <a:solidFill>
              <a:srgbClr val="7A7F9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72584" y="987552"/>
            <a:ext cx="1143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5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Raster-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5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isation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15584" y="1124712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016752" y="987552"/>
            <a:ext cx="1143000" cy="594360"/>
          </a:xfrm>
          <a:prstGeom prst="rect">
            <a:avLst/>
          </a:prstGeom>
          <a:solidFill>
            <a:srgbClr val="151820"/>
          </a:solidFill>
          <a:ln w="15240">
            <a:solidFill>
              <a:srgbClr val="00E67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16752" y="987552"/>
            <a:ext cx="1143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159752" y="1124712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360920" y="987552"/>
            <a:ext cx="1143000" cy="594360"/>
          </a:xfrm>
          <a:prstGeom prst="rect">
            <a:avLst/>
          </a:prstGeom>
          <a:solidFill>
            <a:srgbClr val="151820"/>
          </a:solidFill>
          <a:ln w="15240">
            <a:solidFill>
              <a:srgbClr val="40C4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60920" y="987552"/>
            <a:ext cx="1143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Frame-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0040" y="1719072"/>
            <a:ext cx="4023360" cy="3182112"/>
          </a:xfrm>
          <a:prstGeom prst="rect">
            <a:avLst/>
          </a:prstGeom>
          <a:solidFill>
            <a:srgbClr val="1A1C24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" y="1719072"/>
            <a:ext cx="45720" cy="3182112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1792224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Shader — Linear Blend Skinning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2920" y="214884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bone influences blended by weight per vertex: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11480" y="2432304"/>
            <a:ext cx="3840480" cy="658368"/>
          </a:xfrm>
          <a:prstGeom prst="rect">
            <a:avLst/>
          </a:prstGeom>
          <a:solidFill>
            <a:srgbClr val="090B10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2496312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8D0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mat4 skin = w0·M[b0] + w1·M[b1]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8D0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+ w2·M[b2] + w3·M[b3]</a:t>
            </a:r>
            <a:endParaRPr lang="en-US" sz="900" dirty="0"/>
          </a:p>
          <a:p>
            <a:pPr algn="l" indent="0" marL="0">
              <a:buNone/>
            </a:pP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8D0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gl_Position = Proj × View × Model × skin × v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02920" y="3163824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Skinning matrices uploaded via Uniform Buffer Object (UBO, std140 layout).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0" y="1719072"/>
            <a:ext cx="4251960" cy="3182112"/>
          </a:xfrm>
          <a:prstGeom prst="rect">
            <a:avLst/>
          </a:prstGeom>
          <a:solidFill>
            <a:srgbClr val="1A1C24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0" y="1719072"/>
            <a:ext cx="45720" cy="3182112"/>
          </a:xfrm>
          <a:prstGeom prst="rect">
            <a:avLst/>
          </a:prstGeom>
          <a:solidFill>
            <a:srgbClr val="40C4FF"/>
          </a:solidFill>
          <a:ln w="12700">
            <a:solidFill>
              <a:srgbClr val="40C4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09160" y="179222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 Shader — Blinn-Phong Illumination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773168" y="2148840"/>
            <a:ext cx="3931920" cy="25603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 (0.15) + Diffuse max(N·L, 0) + Specular (N·H)³²</a:t>
            </a:r>
            <a:endParaRPr lang="en-US" sz="11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Albedo texture sampled via mesh UV coordinates (stb_image)</a:t>
            </a:r>
            <a:endParaRPr lang="en-US" sz="11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Normals transformed using the inverse-transpose of the skin matrix</a:t>
            </a:r>
            <a:endParaRPr lang="en-US" sz="11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Grey fallback colour for models without an albedo texture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046720" y="491947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A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36576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36576"/>
          </a:xfrm>
          <a:prstGeom prst="rect">
            <a:avLst/>
          </a:prstGeom>
          <a:solidFill>
            <a:srgbClr val="40C4FF"/>
          </a:solidFill>
          <a:ln w="12700">
            <a:solidFill>
              <a:srgbClr val="40C4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Geometric Transformations &amp; Bone Hierarchy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320040" y="640080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Geometric Objects &amp; Transformations  ·  Building 3D Models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914400"/>
            <a:ext cx="4023360" cy="3931920"/>
          </a:xfrm>
          <a:prstGeom prst="rect">
            <a:avLst/>
          </a:prstGeom>
          <a:solidFill>
            <a:srgbClr val="1A1C24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914400"/>
            <a:ext cx="45720" cy="3931920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87552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as Scene Graph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1325880"/>
            <a:ext cx="3749040" cy="14173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bone stores a parent index and a local TRS transform (Translation · Rotation · Scale)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CesiumMan: 19 bones across 3 hierarchy levels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bone has no parent — all others inherit from a single root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2816352"/>
            <a:ext cx="3840480" cy="566928"/>
          </a:xfrm>
          <a:prstGeom prst="rect">
            <a:avLst/>
          </a:prstGeom>
          <a:solidFill>
            <a:srgbClr val="090B10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880360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8D0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Single forward pass — parent always before child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8D0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global[i] = global[parent[i]]  ×  local[i]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8D0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global[root] = local[root]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3493008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ordering is essential — every child must inherit its parent's transform.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0" y="914400"/>
            <a:ext cx="4251960" cy="3931920"/>
          </a:xfrm>
          <a:prstGeom prst="rect">
            <a:avLst/>
          </a:prstGeom>
          <a:solidFill>
            <a:srgbClr val="1A1C24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0" y="914400"/>
            <a:ext cx="45720" cy="3931920"/>
          </a:xfrm>
          <a:prstGeom prst="rect">
            <a:avLst/>
          </a:prstGeom>
          <a:solidFill>
            <a:srgbClr val="40C4FF"/>
          </a:solidFill>
          <a:ln w="12700">
            <a:solidFill>
              <a:srgbClr val="40C4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09160" y="9875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Skinning Matrix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63440" y="1344168"/>
            <a:ext cx="4023360" cy="411480"/>
          </a:xfrm>
          <a:prstGeom prst="rect">
            <a:avLst/>
          </a:prstGeom>
          <a:solidFill>
            <a:srgbClr val="090B10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1408176"/>
            <a:ext cx="3840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8D0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boneMatrix[i] = global[i]  ×  invBind[i]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773168" y="1847088"/>
            <a:ext cx="3931920" cy="18288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invBind moves a vertex from world space into bone-local space</a:t>
            </a:r>
            <a:endParaRPr lang="en-US" sz="11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 = 0 (bind pose), boneMatrix[i] = Identity — validated at runtime</a:t>
            </a:r>
            <a:endParaRPr lang="en-US" sz="11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bind pose is the animation reference frame; it has no relation to viewing or projection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3749040"/>
            <a:ext cx="4023360" cy="822960"/>
          </a:xfrm>
          <a:prstGeom prst="rect">
            <a:avLst/>
          </a:prstGeom>
          <a:solidFill>
            <a:srgbClr val="151820"/>
          </a:solidFill>
          <a:ln w="8890">
            <a:solidFill>
              <a:srgbClr val="FF6E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822192"/>
            <a:ext cx="384048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6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 Pose  </a:t>
            </a:r>
            <a:pPr indent="0" marL="0">
              <a:buNone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 reference — invBind correction
</a:t>
            </a:r>
            <a:pPr indent="0" marL="0">
              <a:buNone/>
            </a:pPr>
            <a:r>
              <a:rPr lang="en-US" sz="1050" b="1" dirty="0">
                <a:solidFill>
                  <a:srgbClr val="4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Projection  </a:t>
            </a:r>
            <a:pPr indent="0" marL="0">
              <a:buNone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camera-to-screen transform — entirely separate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046720" y="491947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A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36576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36576"/>
          </a:xfrm>
          <a:prstGeom prst="rect">
            <a:avLst/>
          </a:prstGeom>
          <a:solidFill>
            <a:srgbClr val="40C4FF"/>
          </a:solidFill>
          <a:ln w="12700">
            <a:solidFill>
              <a:srgbClr val="40C4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 Sampling &amp; Interpolation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023360" cy="3931920"/>
          </a:xfrm>
          <a:prstGeom prst="rect">
            <a:avLst/>
          </a:prstGeom>
          <a:solidFill>
            <a:srgbClr val="1A1C24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914400"/>
            <a:ext cx="45720" cy="3931920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987552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Keyframe Channels (glTF)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1325880"/>
            <a:ext cx="3749040" cy="10515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channel per animated bone — separate T / R / S keyframe tracks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advanced each frame:  t = fmod(t + dt × speed, duration)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Surrounding keyframes located via binary search on the time array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11480" y="2468880"/>
            <a:ext cx="3840480" cy="749808"/>
          </a:xfrm>
          <a:prstGeom prst="rect">
            <a:avLst/>
          </a:prstGeom>
          <a:solidFill>
            <a:srgbClr val="090B10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532888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8D0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mix(T_i,  T_{i+1}, α)   // translation — LERP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8D0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mix(S_i,  S_{i+1}, α)   // scale       — LERP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8D0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= slerp(R_i, R_{i+1}, α)  // rotation    — SLERP</a:t>
            </a:r>
            <a:endParaRPr lang="en-US" sz="900" dirty="0"/>
          </a:p>
          <a:p>
            <a:pPr algn="l" indent="0" marL="0">
              <a:buNone/>
            </a:pP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8D0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α = (t − t_i) / (t_{i+1} − t_i)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02920" y="333756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Bones without an animation channel retain their bind-pose transform.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0" y="914400"/>
            <a:ext cx="4251960" cy="3931920"/>
          </a:xfrm>
          <a:prstGeom prst="rect">
            <a:avLst/>
          </a:prstGeom>
          <a:solidFill>
            <a:srgbClr val="1A1C24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0" y="914400"/>
            <a:ext cx="45720" cy="3931920"/>
          </a:xfrm>
          <a:prstGeom prst="rect">
            <a:avLst/>
          </a:prstGeom>
          <a:solidFill>
            <a:srgbClr val="40C4FF"/>
          </a:solidFill>
          <a:ln w="12700">
            <a:solidFill>
              <a:srgbClr val="40C4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9160" y="9875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SLERP for Rotations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73168" y="1325880"/>
            <a:ext cx="3931920" cy="32461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Rotations are stored as unit quaternions — no gimbal lock</a:t>
            </a:r>
            <a:endParaRPr lang="en-US" sz="11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interpolation (LERP) of quaternions does not traverse the shortest arc on the unit sphere</a:t>
            </a:r>
            <a:endParaRPr lang="en-US" sz="11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SLERP (Spherical Linear Interpolation) follows the great circle, guaranteeing constant angular velocity</a:t>
            </a:r>
            <a:endParaRPr lang="en-US" sz="11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Matrix-level linear interpolation breaks orthogonality and causes mesh shearing — it cannot be used for blending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046720" y="491947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A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36576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36576"/>
          </a:xfrm>
          <a:prstGeom prst="rect">
            <a:avLst/>
          </a:prstGeom>
          <a:solidFill>
            <a:srgbClr val="40C4FF"/>
          </a:solidFill>
          <a:ln w="12700">
            <a:solidFill>
              <a:srgbClr val="40C4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Skinning — Linear Blend Skinning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320040" y="640080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Shader-Based OpenGL  ·  Buffers &amp; Texture Mapping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914400"/>
            <a:ext cx="4023360" cy="3931920"/>
          </a:xfrm>
          <a:prstGeom prst="rect">
            <a:avLst/>
          </a:prstGeom>
          <a:solidFill>
            <a:srgbClr val="1A1C24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914400"/>
            <a:ext cx="45720" cy="3931920"/>
          </a:xfrm>
          <a:prstGeom prst="rect">
            <a:avLst/>
          </a:prstGeom>
          <a:solidFill>
            <a:srgbClr val="FF6E40"/>
          </a:solidFill>
          <a:ln w="12700">
            <a:solidFill>
              <a:srgbClr val="FF6E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87552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6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1335024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 v = (1, 0, 0)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16002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 0</a:t>
            </a:r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rotate 90° around Z  ·  weight 0.7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184708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 1</a:t>
            </a:r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translate +2 in X  ·  weight 0.3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11480" y="2194560"/>
            <a:ext cx="3840480" cy="1417320"/>
          </a:xfrm>
          <a:prstGeom prst="rect">
            <a:avLst/>
          </a:prstGeom>
          <a:solidFill>
            <a:srgbClr val="090B10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258568"/>
            <a:ext cx="365760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8D0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M₀ × v = (0, 1, 0)   // Bone 0 rotated vertex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8D0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M₁ × v = (3, 0, 0)   // Bone 1 translated vertex</a:t>
            </a:r>
            <a:endParaRPr lang="en-US" sz="900" dirty="0"/>
          </a:p>
          <a:p>
            <a:pPr algn="l" indent="0" marL="0">
              <a:buNone/>
            </a:pP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8D0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v' = 0.7 × (0,1,0)  +  0.3 × (3,0,0)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8D0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= (0, 0.7, 0)  +  (0.9, 0, 0)</a:t>
            </a:r>
            <a:endParaRPr lang="en-US" sz="900" dirty="0"/>
          </a:p>
          <a:p>
            <a:pPr algn="l" indent="0" marL="0">
              <a:buNone/>
            </a:pP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8D0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= (0.9, 0.7, 0)   ←  final vertex position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0" y="914400"/>
            <a:ext cx="4251960" cy="3931920"/>
          </a:xfrm>
          <a:prstGeom prst="rect">
            <a:avLst/>
          </a:prstGeom>
          <a:solidFill>
            <a:srgbClr val="1A1C24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0" y="914400"/>
            <a:ext cx="45720" cy="3931920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09160" y="9875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Blend Skinning (LBS)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73168" y="1325880"/>
            <a:ext cx="3931920" cy="21488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vertex is neither fully rotated nor fully translated</a:t>
            </a:r>
            <a:endParaRPr lang="en-US" sz="11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weighted blend of both transforms produces smooth joint deformation</a:t>
            </a:r>
            <a:endParaRPr lang="en-US" sz="11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Adjacent vertices share similar weight distributions — this continuity creates smooth surfaces at joints like elbows and knees</a:t>
            </a:r>
            <a:endParaRPr lang="en-US" sz="11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vertex is influenced by up to 4 bones in the GLSL vertex shader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09160" y="367588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Vertex Shader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63440" y="4005072"/>
            <a:ext cx="4023360" cy="658368"/>
          </a:xfrm>
          <a:prstGeom prst="rect">
            <a:avLst/>
          </a:prstGeom>
          <a:solidFill>
            <a:srgbClr val="090B10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406908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8D0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mat4 skin =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8D0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weights.x * bones[boneIDs.x] +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8D0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weights.y * bones[boneIDs.y] + ...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046720" y="491947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A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36576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36576"/>
          </a:xfrm>
          <a:prstGeom prst="rect">
            <a:avLst/>
          </a:prstGeom>
          <a:solidFill>
            <a:srgbClr val="40C4FF"/>
          </a:solidFill>
          <a:ln w="12700">
            <a:solidFill>
              <a:srgbClr val="40C4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Buffers &amp; Texture Mapping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320040" y="640080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Buffers &amp; Texture Mapping  ·  Building 3D Models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914400"/>
            <a:ext cx="2651760" cy="3931920"/>
          </a:xfrm>
          <a:prstGeom prst="rect">
            <a:avLst/>
          </a:prstGeom>
          <a:solidFill>
            <a:srgbClr val="1A1C24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914400"/>
            <a:ext cx="45720" cy="3931920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87552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Buffer (VBO)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84632" y="1325880"/>
            <a:ext cx="2450592" cy="32004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interleaved buffer per mesh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 0  position (vec3)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 1  normal (vec3)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 2  UV (vec2)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 3  bone IDs (ivec4)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 4  weights (vec4)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154680" y="914400"/>
            <a:ext cx="2651760" cy="3931920"/>
          </a:xfrm>
          <a:prstGeom prst="rect">
            <a:avLst/>
          </a:prstGeom>
          <a:solidFill>
            <a:srgbClr val="1A1C24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54680" y="914400"/>
            <a:ext cx="45720" cy="3931920"/>
          </a:xfrm>
          <a:prstGeom prst="rect">
            <a:avLst/>
          </a:prstGeom>
          <a:solidFill>
            <a:srgbClr val="40C4FF"/>
          </a:solidFill>
          <a:ln w="12700">
            <a:solidFill>
              <a:srgbClr val="40C4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987552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 Buffer Object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19272" y="1325880"/>
            <a:ext cx="2450592" cy="23317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std140 layout — 128 bone matrices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glBufferSubData call per frame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KB per frame  (128 × 64 bytes)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Binding set via glUniformBlockBinding()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46120" y="3749040"/>
            <a:ext cx="2468880" cy="822960"/>
          </a:xfrm>
          <a:prstGeom prst="rect">
            <a:avLst/>
          </a:prstGeom>
          <a:solidFill>
            <a:srgbClr val="151820"/>
          </a:solidFill>
          <a:ln w="8890">
            <a:solidFill>
              <a:srgbClr val="FF6E4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3822192"/>
            <a:ext cx="2377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6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GL 4.1 limit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6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SSBO · No explicit UBO binding qualifier in GLSL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989320" y="914400"/>
            <a:ext cx="2788920" cy="3931920"/>
          </a:xfrm>
          <a:prstGeom prst="rect">
            <a:avLst/>
          </a:prstGeom>
          <a:solidFill>
            <a:srgbClr val="1A1C24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89320" y="914400"/>
            <a:ext cx="45720" cy="3931920"/>
          </a:xfrm>
          <a:prstGeom prst="rect">
            <a:avLst/>
          </a:prstGeom>
          <a:solidFill>
            <a:srgbClr val="FF6E40"/>
          </a:solidFill>
          <a:ln w="12700">
            <a:solidFill>
              <a:srgbClr val="FF6E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98755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6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Texture Mapping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153912" y="1325880"/>
            <a:ext cx="2606040" cy="23317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Albedo texture loaded via stb_image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Mipmaps generated (GL_LINEAR_MIPMAP_LINEAR)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 in fragment shader using mesh UV coordinates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Grey fallback for models without a texture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80760" y="3749040"/>
            <a:ext cx="2697480" cy="822960"/>
          </a:xfrm>
          <a:prstGeom prst="rect">
            <a:avLst/>
          </a:prstGeom>
          <a:solidFill>
            <a:srgbClr val="151820"/>
          </a:solidFill>
          <a:ln w="8890">
            <a:solidFill>
              <a:srgbClr val="40C4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72200" y="3822192"/>
            <a:ext cx="26060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GL_DEPTH_TEST disabled during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 overlay pass — lines always visible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046720" y="491947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A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36576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36576"/>
          </a:xfrm>
          <a:prstGeom prst="rect">
            <a:avLst/>
          </a:prstGeom>
          <a:solidFill>
            <a:srgbClr val="40C4FF"/>
          </a:solidFill>
          <a:ln w="12700">
            <a:solidFill>
              <a:srgbClr val="40C4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Viewing, Projection &amp; Interaction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320040" y="640080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Viewing &amp; Projection  ·  Input &amp; Interaction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914400"/>
            <a:ext cx="4023360" cy="3931920"/>
          </a:xfrm>
          <a:prstGeom prst="rect">
            <a:avLst/>
          </a:prstGeom>
          <a:solidFill>
            <a:srgbClr val="1A1C24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914400"/>
            <a:ext cx="45720" cy="3931920"/>
          </a:xfrm>
          <a:prstGeom prst="rect">
            <a:avLst/>
          </a:prstGeom>
          <a:solidFill>
            <a:srgbClr val="40C4FF"/>
          </a:solidFill>
          <a:ln w="12700">
            <a:solidFill>
              <a:srgbClr val="40C4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87552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 Camera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1325880"/>
            <a:ext cx="3749040" cy="1691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Parameterised by yaw, pitch, radius, target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matrix rebuilt from spherical coordinates each frame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Perspective projection — 45° FOV, near 0.05, far 500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 ratio updated on framebuffer resize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3090672"/>
            <a:ext cx="3840480" cy="411480"/>
          </a:xfrm>
          <a:prstGeom prst="rect">
            <a:avLst/>
          </a:prstGeom>
          <a:solidFill>
            <a:srgbClr val="090B10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3154680"/>
            <a:ext cx="3657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8D0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MVP = Projection × View × rootTransform × skinnedPos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363016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rootTransform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3877056"/>
            <a:ext cx="3749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Accumulates transforms of non-joint ancestor nodes (Z_UP, Armature) from the glTF scene hierarchy to correct model orientation.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0" y="914400"/>
            <a:ext cx="4251960" cy="3931920"/>
          </a:xfrm>
          <a:prstGeom prst="rect">
            <a:avLst/>
          </a:prstGeom>
          <a:solidFill>
            <a:srgbClr val="1A1C24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0" y="914400"/>
            <a:ext cx="45720" cy="3931920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09160" y="9875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73168" y="1325880"/>
            <a:ext cx="3931920" cy="21945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LMB drag  —  orbit (yaw / pitch)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RMB drag  —  pan  ·  Scroll  —  zoom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  —  play / pause  ·  R  —  reset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]  —  instant clip switch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 —  0.4 s smooth crossfade blend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 / L  —  frame-step ±1/30 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—  bone overlay  ·  M  —  switch model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709160" y="365760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ImGui Debug Panel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773168" y="4005072"/>
            <a:ext cx="3931920" cy="71323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scrub slider, speed slider (0.05×–8×), clip selector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 progress bar, FPS counter, triangle count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046720" y="491947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A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36576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36576"/>
          </a:xfrm>
          <a:prstGeom prst="rect">
            <a:avLst/>
          </a:prstGeom>
          <a:solidFill>
            <a:srgbClr val="40C4FF"/>
          </a:solidFill>
          <a:ln w="12700">
            <a:solidFill>
              <a:srgbClr val="40C4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Challenges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667512"/>
          </a:xfrm>
          <a:prstGeom prst="rect">
            <a:avLst/>
          </a:prstGeom>
          <a:solidFill>
            <a:srgbClr val="1A1C24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960120"/>
            <a:ext cx="45720" cy="667512"/>
          </a:xfrm>
          <a:prstGeom prst="rect">
            <a:avLst/>
          </a:prstGeom>
          <a:solidFill>
            <a:srgbClr val="FF6E40"/>
          </a:solidFill>
          <a:ln w="12700">
            <a:solidFill>
              <a:srgbClr val="FF6E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9966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6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upside-down and tiny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02920" y="1252728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Non-joint ancestor nodes (Z_UP, Armature) carry scene orientation. Resolved by DFS-accumulating their transforms into a rootTransform matrix, applied as the model uniform.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" y="1737360"/>
            <a:ext cx="8503920" cy="667512"/>
          </a:xfrm>
          <a:prstGeom prst="rect">
            <a:avLst/>
          </a:prstGeom>
          <a:solidFill>
            <a:srgbClr val="1A1C24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" y="1737360"/>
            <a:ext cx="45720" cy="667512"/>
          </a:xfrm>
          <a:prstGeom prst="rect">
            <a:avLst/>
          </a:prstGeom>
          <a:solidFill>
            <a:srgbClr val="FF6E40"/>
          </a:solidFill>
          <a:ln w="12700">
            <a:solidFill>
              <a:srgbClr val="FF6E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77393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6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layout(binding=0) compile error on macOS GL 4.1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2029968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4.1 does not support explicit UBO binding qualifiers in GLSL. Binding point set at load time via glUniformBlockBinding() instead.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0040" y="2514600"/>
            <a:ext cx="8503920" cy="667512"/>
          </a:xfrm>
          <a:prstGeom prst="rect">
            <a:avLst/>
          </a:prstGeom>
          <a:solidFill>
            <a:srgbClr val="1A1C24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" y="2514600"/>
            <a:ext cx="45720" cy="667512"/>
          </a:xfrm>
          <a:prstGeom prst="rect">
            <a:avLst/>
          </a:prstGeom>
          <a:solidFill>
            <a:srgbClr val="FF6E40"/>
          </a:solidFill>
          <a:ln w="12700">
            <a:solidFill>
              <a:srgbClr val="FF6E4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55117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6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overlay invisible inside the mesh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2807208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test culled lines co-located with geometry. Resolved by disabling GL_DEPTH_TEST for the bone draw pass and restoring it immediately after.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" y="3291840"/>
            <a:ext cx="8503920" cy="667512"/>
          </a:xfrm>
          <a:prstGeom prst="rect">
            <a:avLst/>
          </a:prstGeom>
          <a:solidFill>
            <a:srgbClr val="1A1C24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" y="3291840"/>
            <a:ext cx="45720" cy="667512"/>
          </a:xfrm>
          <a:prstGeom prst="rect">
            <a:avLst/>
          </a:prstGeom>
          <a:solidFill>
            <a:srgbClr val="FF6E40"/>
          </a:solidFill>
          <a:ln w="12700">
            <a:solidFill>
              <a:srgbClr val="FF6E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3284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6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 blending caused mesh shearing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02920" y="3584448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Matrix-level linear interpolation breaks rotation orthogonality. Blending performed at TRS level — SLERP on quaternion rotations, LERP on translation and scale — before constructing the mat4.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0040" y="4069080"/>
            <a:ext cx="8503920" cy="667512"/>
          </a:xfrm>
          <a:prstGeom prst="rect">
            <a:avLst/>
          </a:prstGeom>
          <a:solidFill>
            <a:srgbClr val="1A1C24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" y="4069080"/>
            <a:ext cx="45720" cy="667512"/>
          </a:xfrm>
          <a:prstGeom prst="rect">
            <a:avLst/>
          </a:prstGeom>
          <a:solidFill>
            <a:srgbClr val="FF6E40"/>
          </a:solidFill>
          <a:ln w="12700">
            <a:solidFill>
              <a:srgbClr val="FF6E4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410565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6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key input broken across keyboard layouts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02920" y="4361688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GLFW key codes vary by keyboard layout on macOS. Replaced key callback with glfwSetCharCallback, which fires Unicode codepoints (+/−) independent of layout.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046720" y="491947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A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36576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36576"/>
          </a:xfrm>
          <a:prstGeom prst="rect">
            <a:avLst/>
          </a:prstGeom>
          <a:solidFill>
            <a:srgbClr val="40C4FF"/>
          </a:solidFill>
          <a:ln w="12700">
            <a:solidFill>
              <a:srgbClr val="40C4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Future Work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023360" cy="3931920"/>
          </a:xfrm>
          <a:prstGeom prst="rect">
            <a:avLst/>
          </a:prstGeom>
          <a:solidFill>
            <a:srgbClr val="1A1C24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914400"/>
            <a:ext cx="45720" cy="3931920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987552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1325880"/>
            <a:ext cx="3749040" cy="21031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glTF 2.0 loading — geometry, skeleton, animation, textures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animation pipeline: sampling → hierarchy → GPU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Blend Skinning vertex shader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TRS-level animation blending with SLERP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Dear ImGui interactive debug panel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FPS sustained on both reference models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11480" y="3584448"/>
            <a:ext cx="1170432" cy="731520"/>
          </a:xfrm>
          <a:prstGeom prst="rect">
            <a:avLst/>
          </a:prstGeom>
          <a:solidFill>
            <a:srgbClr val="151820"/>
          </a:solidFill>
          <a:ln w="10160">
            <a:solidFill>
              <a:srgbClr val="00E67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369417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FPS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11480" y="404164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1709928" y="3584448"/>
            <a:ext cx="1170432" cy="731520"/>
          </a:xfrm>
          <a:prstGeom prst="rect">
            <a:avLst/>
          </a:prstGeom>
          <a:solidFill>
            <a:srgbClr val="151820"/>
          </a:solidFill>
          <a:ln w="10160">
            <a:solidFill>
              <a:srgbClr val="40C4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709928" y="369417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KB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709928" y="404164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UBO/frame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008376" y="3584448"/>
            <a:ext cx="1170432" cy="731520"/>
          </a:xfrm>
          <a:prstGeom prst="rect">
            <a:avLst/>
          </a:prstGeom>
          <a:solidFill>
            <a:srgbClr val="151820"/>
          </a:solidFill>
          <a:ln w="10160">
            <a:solidFill>
              <a:srgbClr val="FF6E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08376" y="369417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&lt;1 ms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008376" y="404164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anim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0" y="914400"/>
            <a:ext cx="4251960" cy="3931920"/>
          </a:xfrm>
          <a:prstGeom prst="rect">
            <a:avLst/>
          </a:prstGeom>
          <a:solidFill>
            <a:srgbClr val="1A1C24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0" y="914400"/>
            <a:ext cx="45720" cy="3931920"/>
          </a:xfrm>
          <a:prstGeom prst="rect">
            <a:avLst/>
          </a:prstGeom>
          <a:solidFill>
            <a:srgbClr val="40C4FF"/>
          </a:solidFill>
          <a:ln w="12700">
            <a:solidFill>
              <a:srgbClr val="40C4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09160" y="9875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Extensions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773168" y="1325880"/>
            <a:ext cx="3931920" cy="2743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mapping — rasterisation-based shadow ray alternative, direct connection to ray tracing concepts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Physically Based Rendering — glTF metallic-roughness BRDF with image-based lighting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Inverse Kinematics — procedural joint solving (CCD / FABRIK)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 animation layers — independent upper/lower body blending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SSBO on GL 4.3+ — removes the 128-bone UBO limit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4206240"/>
            <a:ext cx="4023360" cy="475488"/>
          </a:xfrm>
          <a:prstGeom prst="rect">
            <a:avLst/>
          </a:prstGeom>
          <a:solidFill>
            <a:srgbClr val="151820"/>
          </a:solidFill>
          <a:ln w="10160">
            <a:solidFill>
              <a:srgbClr val="00E67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4206240"/>
            <a:ext cx="4023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github.com/yigit121/410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046720" y="491947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A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Real-Time Skeletal Animation Viewer</dc:title>
  <dc:subject>PptxGenJS Presentation</dc:subject>
  <dc:creator>PptxGenJS</dc:creator>
  <cp:lastModifiedBy>PptxGenJS</cp:lastModifiedBy>
  <cp:revision>1</cp:revision>
  <dcterms:created xsi:type="dcterms:W3CDTF">2026-04-14T11:07:28Z</dcterms:created>
  <dcterms:modified xsi:type="dcterms:W3CDTF">2026-04-14T11:07:28Z</dcterms:modified>
</cp:coreProperties>
</file>